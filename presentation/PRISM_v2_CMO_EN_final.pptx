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" name="Google Shape;170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8" name="Google Shape;358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1" name="Google Shape;401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2" name="Shape 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Google Shape;443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5" name="Shape 4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Google Shape;476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7" name="Google Shape;477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1B2A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6583680" y="-1280160"/>
            <a:ext cx="4572000" cy="4572000"/>
          </a:xfrm>
          <a:prstGeom prst="ellipse">
            <a:avLst/>
          </a:prstGeom>
          <a:solidFill>
            <a:srgbClr val="00C2CB">
              <a:alpha val="16078"/>
            </a:srgbClr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3"/>
          <p:cNvSpPr/>
          <p:nvPr/>
        </p:nvSpPr>
        <p:spPr>
          <a:xfrm>
            <a:off x="7498079" y="-548640"/>
            <a:ext cx="2926080" cy="2926080"/>
          </a:xfrm>
          <a:prstGeom prst="ellipse">
            <a:avLst/>
          </a:prstGeom>
          <a:solidFill>
            <a:srgbClr val="02E8C8">
              <a:alpha val="10980"/>
            </a:srgbClr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3"/>
          <p:cNvSpPr/>
          <p:nvPr/>
        </p:nvSpPr>
        <p:spPr>
          <a:xfrm>
            <a:off x="-1645920" y="3291840"/>
            <a:ext cx="3474720" cy="3474720"/>
          </a:xfrm>
          <a:prstGeom prst="ellipse">
            <a:avLst/>
          </a:prstGeom>
          <a:solidFill>
            <a:srgbClr val="00C2CB">
              <a:alpha val="9020"/>
            </a:srgbClr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13"/>
          <p:cNvSpPr/>
          <p:nvPr/>
        </p:nvSpPr>
        <p:spPr>
          <a:xfrm>
            <a:off x="502920" y="868680"/>
            <a:ext cx="2926080" cy="310896"/>
          </a:xfrm>
          <a:prstGeom prst="roundRect">
            <a:avLst>
              <a:gd fmla="val 16667" name="adj"/>
            </a:avLst>
          </a:prstGeom>
          <a:solidFill>
            <a:srgbClr val="00C2CB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91425" spcFirstLastPara="1" rIns="91425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PRICING SCIENCE  ·  STREAMING  ·  2026</a:t>
            </a:r>
            <a:endParaRPr/>
          </a:p>
        </p:txBody>
      </p:sp>
      <p:sp>
        <p:nvSpPr>
          <p:cNvPr id="88" name="Google Shape;88;p13"/>
          <p:cNvSpPr txBox="1"/>
          <p:nvPr/>
        </p:nvSpPr>
        <p:spPr>
          <a:xfrm>
            <a:off x="502920" y="1353312"/>
            <a:ext cx="356616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PRISM</a:t>
            </a:r>
            <a:endParaRPr/>
          </a:p>
        </p:txBody>
      </p:sp>
      <p:sp>
        <p:nvSpPr>
          <p:cNvPr id="89" name="Google Shape;89;p13"/>
          <p:cNvSpPr txBox="1"/>
          <p:nvPr/>
        </p:nvSpPr>
        <p:spPr>
          <a:xfrm>
            <a:off x="4023360" y="1481328"/>
            <a:ext cx="1463040" cy="4389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rgbClr val="00C2CB"/>
                </a:solidFill>
                <a:latin typeface="Calibri"/>
                <a:ea typeface="Calibri"/>
                <a:cs typeface="Calibri"/>
                <a:sym typeface="Calibri"/>
              </a:rPr>
              <a:t>v2.0</a:t>
            </a:r>
            <a:endParaRPr/>
          </a:p>
        </p:txBody>
      </p:sp>
      <p:sp>
        <p:nvSpPr>
          <p:cNvPr id="90" name="Google Shape;90;p13"/>
          <p:cNvSpPr txBox="1"/>
          <p:nvPr/>
        </p:nvSpPr>
        <p:spPr>
          <a:xfrm>
            <a:off x="502920" y="2331720"/>
            <a:ext cx="59436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900" u="none" cap="none" strike="noStrike">
                <a:solidFill>
                  <a:srgbClr val="00C2CB"/>
                </a:solidFill>
                <a:latin typeface="Calibri"/>
                <a:ea typeface="Calibri"/>
                <a:cs typeface="Calibri"/>
                <a:sym typeface="Calibri"/>
              </a:rPr>
              <a:t>Pricing &amp; Revenue Intelligence</a:t>
            </a:r>
            <a:br>
              <a:rPr b="0" i="0" lang="en-US" sz="1900" u="none" cap="none" strike="noStrike">
                <a:solidFill>
                  <a:srgbClr val="00C2CB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900" u="none" cap="none" strike="noStrike">
                <a:solidFill>
                  <a:srgbClr val="00C2CB"/>
                </a:solidFill>
                <a:latin typeface="Calibri"/>
                <a:ea typeface="Calibri"/>
                <a:cs typeface="Calibri"/>
                <a:sym typeface="Calibri"/>
              </a:rPr>
              <a:t>for Streaming Markets</a:t>
            </a:r>
            <a:endParaRPr/>
          </a:p>
        </p:txBody>
      </p:sp>
      <p:sp>
        <p:nvSpPr>
          <p:cNvPr id="91" name="Google Shape;91;p13"/>
          <p:cNvSpPr txBox="1"/>
          <p:nvPr/>
        </p:nvSpPr>
        <p:spPr>
          <a:xfrm>
            <a:off x="502920" y="3291840"/>
            <a:ext cx="6400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8BAFC9"/>
                </a:solidFill>
                <a:latin typeface="Calibri"/>
                <a:ea typeface="Calibri"/>
                <a:cs typeface="Calibri"/>
                <a:sym typeface="Calibri"/>
              </a:rPr>
              <a:t>Video+  ·  Strategic pricing insights for the CMO</a:t>
            </a:r>
            <a:endParaRPr/>
          </a:p>
        </p:txBody>
      </p:sp>
      <p:sp>
        <p:nvSpPr>
          <p:cNvPr id="92" name="Google Shape;92;p13"/>
          <p:cNvSpPr txBox="1"/>
          <p:nvPr/>
        </p:nvSpPr>
        <p:spPr>
          <a:xfrm>
            <a:off x="502920" y="3621024"/>
            <a:ext cx="77724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A5A78"/>
                </a:solidFill>
                <a:latin typeface="Calibri"/>
                <a:ea typeface="Calibri"/>
                <a:cs typeface="Calibri"/>
                <a:sym typeface="Calibri"/>
              </a:rPr>
              <a:t>OLS Log-Log  ·  95% CI propagated  ·  Cannibalization  ·  Seasonal Timing  ·  Van Westendorp</a:t>
            </a:r>
            <a:endParaRPr/>
          </a:p>
        </p:txBody>
      </p:sp>
      <p:sp>
        <p:nvSpPr>
          <p:cNvPr id="93" name="Google Shape;93;p13"/>
          <p:cNvSpPr/>
          <p:nvPr/>
        </p:nvSpPr>
        <p:spPr>
          <a:xfrm>
            <a:off x="502920" y="4069080"/>
            <a:ext cx="1920240" cy="749808"/>
          </a:xfrm>
          <a:prstGeom prst="roundRect">
            <a:avLst>
              <a:gd fmla="val 16667" name="adj"/>
            </a:avLst>
          </a:prstGeom>
          <a:solidFill>
            <a:srgbClr val="0F2236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3"/>
          <p:cNvSpPr txBox="1"/>
          <p:nvPr/>
        </p:nvSpPr>
        <p:spPr>
          <a:xfrm>
            <a:off x="502920" y="4114800"/>
            <a:ext cx="19202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0C2CB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/>
          </a:p>
        </p:txBody>
      </p:sp>
      <p:sp>
        <p:nvSpPr>
          <p:cNvPr id="95" name="Google Shape;95;p13"/>
          <p:cNvSpPr txBox="1"/>
          <p:nvPr/>
        </p:nvSpPr>
        <p:spPr>
          <a:xfrm>
            <a:off x="502920" y="4480560"/>
            <a:ext cx="1920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8BAFC9"/>
                </a:solidFill>
                <a:latin typeface="Calibri"/>
                <a:ea typeface="Calibri"/>
                <a:cs typeface="Calibri"/>
                <a:sym typeface="Calibri"/>
              </a:rPr>
              <a:t>Packages</a:t>
            </a:r>
            <a:endParaRPr/>
          </a:p>
        </p:txBody>
      </p:sp>
      <p:sp>
        <p:nvSpPr>
          <p:cNvPr id="96" name="Google Shape;96;p13"/>
          <p:cNvSpPr/>
          <p:nvPr/>
        </p:nvSpPr>
        <p:spPr>
          <a:xfrm>
            <a:off x="2587752" y="4069080"/>
            <a:ext cx="1920240" cy="749808"/>
          </a:xfrm>
          <a:prstGeom prst="roundRect">
            <a:avLst>
              <a:gd fmla="val 16667" name="adj"/>
            </a:avLst>
          </a:prstGeom>
          <a:solidFill>
            <a:srgbClr val="0F2236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13"/>
          <p:cNvSpPr txBox="1"/>
          <p:nvPr/>
        </p:nvSpPr>
        <p:spPr>
          <a:xfrm>
            <a:off x="2587752" y="4114800"/>
            <a:ext cx="19202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0C2CB"/>
                </a:solidFill>
                <a:latin typeface="Calibri"/>
                <a:ea typeface="Calibri"/>
                <a:cs typeface="Calibri"/>
                <a:sym typeface="Calibri"/>
              </a:rPr>
              <a:t>539</a:t>
            </a:r>
            <a:endParaRPr/>
          </a:p>
        </p:txBody>
      </p:sp>
      <p:sp>
        <p:nvSpPr>
          <p:cNvPr id="98" name="Google Shape;98;p13"/>
          <p:cNvSpPr txBox="1"/>
          <p:nvPr/>
        </p:nvSpPr>
        <p:spPr>
          <a:xfrm>
            <a:off x="2587752" y="4480560"/>
            <a:ext cx="1920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8BAFC9"/>
                </a:solidFill>
                <a:latin typeface="Calibri"/>
                <a:ea typeface="Calibri"/>
                <a:cs typeface="Calibri"/>
                <a:sym typeface="Calibri"/>
              </a:rPr>
              <a:t>Formulas</a:t>
            </a:r>
            <a:endParaRPr/>
          </a:p>
        </p:txBody>
      </p:sp>
      <p:sp>
        <p:nvSpPr>
          <p:cNvPr id="99" name="Google Shape;99;p13"/>
          <p:cNvSpPr/>
          <p:nvPr/>
        </p:nvSpPr>
        <p:spPr>
          <a:xfrm>
            <a:off x="4672583" y="4069080"/>
            <a:ext cx="1920240" cy="749808"/>
          </a:xfrm>
          <a:prstGeom prst="roundRect">
            <a:avLst>
              <a:gd fmla="val 16667" name="adj"/>
            </a:avLst>
          </a:prstGeom>
          <a:solidFill>
            <a:srgbClr val="0F2236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13"/>
          <p:cNvSpPr txBox="1"/>
          <p:nvPr/>
        </p:nvSpPr>
        <p:spPr>
          <a:xfrm>
            <a:off x="4672583" y="4114800"/>
            <a:ext cx="19202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0C2CB"/>
                </a:solidFill>
                <a:latin typeface="Calibri"/>
                <a:ea typeface="Calibri"/>
                <a:cs typeface="Calibri"/>
                <a:sym typeface="Calibri"/>
              </a:rPr>
              <a:t>0.8K</a:t>
            </a:r>
            <a:endParaRPr/>
          </a:p>
        </p:txBody>
      </p:sp>
      <p:sp>
        <p:nvSpPr>
          <p:cNvPr id="101" name="Google Shape;101;p13"/>
          <p:cNvSpPr txBox="1"/>
          <p:nvPr/>
        </p:nvSpPr>
        <p:spPr>
          <a:xfrm>
            <a:off x="4672583" y="4480560"/>
            <a:ext cx="1920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8BAFC9"/>
                </a:solidFill>
                <a:latin typeface="Calibri"/>
                <a:ea typeface="Calibri"/>
                <a:cs typeface="Calibri"/>
                <a:sym typeface="Calibri"/>
              </a:rPr>
              <a:t>Revenue Uplift</a:t>
            </a:r>
            <a:endParaRPr/>
          </a:p>
        </p:txBody>
      </p:sp>
      <p:sp>
        <p:nvSpPr>
          <p:cNvPr id="102" name="Google Shape;102;p13"/>
          <p:cNvSpPr/>
          <p:nvPr/>
        </p:nvSpPr>
        <p:spPr>
          <a:xfrm>
            <a:off x="6757416" y="4069080"/>
            <a:ext cx="1920240" cy="749808"/>
          </a:xfrm>
          <a:prstGeom prst="roundRect">
            <a:avLst>
              <a:gd fmla="val 16667" name="adj"/>
            </a:avLst>
          </a:prstGeom>
          <a:solidFill>
            <a:srgbClr val="0F2236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3"/>
          <p:cNvSpPr txBox="1"/>
          <p:nvPr/>
        </p:nvSpPr>
        <p:spPr>
          <a:xfrm>
            <a:off x="6757416" y="4114800"/>
            <a:ext cx="19202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0C2CB"/>
                </a:solidFill>
                <a:latin typeface="Calibri"/>
                <a:ea typeface="Calibri"/>
                <a:cs typeface="Calibri"/>
                <a:sym typeface="Calibri"/>
              </a:rPr>
              <a:t>12</a:t>
            </a:r>
            <a:endParaRPr/>
          </a:p>
        </p:txBody>
      </p:sp>
      <p:sp>
        <p:nvSpPr>
          <p:cNvPr id="104" name="Google Shape;104;p13"/>
          <p:cNvSpPr txBox="1"/>
          <p:nvPr/>
        </p:nvSpPr>
        <p:spPr>
          <a:xfrm>
            <a:off x="6757416" y="4480560"/>
            <a:ext cx="1920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8BAFC9"/>
                </a:solidFill>
                <a:latin typeface="Calibri"/>
                <a:ea typeface="Calibri"/>
                <a:cs typeface="Calibri"/>
                <a:sym typeface="Calibri"/>
              </a:rPr>
              <a:t>Months of data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1B2A"/>
        </a:solidFill>
      </p:bgPr>
    </p:bg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4"/>
          <p:cNvSpPr/>
          <p:nvPr/>
        </p:nvSpPr>
        <p:spPr>
          <a:xfrm>
            <a:off x="7132320" y="-731520"/>
            <a:ext cx="3200400" cy="3200400"/>
          </a:xfrm>
          <a:prstGeom prst="ellipse">
            <a:avLst/>
          </a:prstGeom>
          <a:solidFill>
            <a:srgbClr val="00C2CB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14"/>
          <p:cNvSpPr txBox="1"/>
          <p:nvPr/>
        </p:nvSpPr>
        <p:spPr>
          <a:xfrm>
            <a:off x="411480" y="384048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What PRISM v2 reveals for the Video+ CMO</a:t>
            </a:r>
            <a:endParaRPr/>
          </a:p>
        </p:txBody>
      </p:sp>
      <p:sp>
        <p:nvSpPr>
          <p:cNvPr id="111" name="Google Shape;111;p14"/>
          <p:cNvSpPr txBox="1"/>
          <p:nvPr/>
        </p:nvSpPr>
        <p:spPr>
          <a:xfrm>
            <a:off x="411480" y="868680"/>
            <a:ext cx="7772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8BAFC9"/>
                </a:solidFill>
                <a:latin typeface="Calibri"/>
                <a:ea typeface="Calibri"/>
                <a:cs typeface="Calibri"/>
                <a:sym typeface="Calibri"/>
              </a:rPr>
              <a:t>5 dimensions of pricing intelligence — from elasticity to optimal price adjustment timing</a:t>
            </a:r>
            <a:endParaRPr/>
          </a:p>
        </p:txBody>
      </p:sp>
      <p:sp>
        <p:nvSpPr>
          <p:cNvPr id="112" name="Google Shape;112;p14"/>
          <p:cNvSpPr/>
          <p:nvPr/>
        </p:nvSpPr>
        <p:spPr>
          <a:xfrm>
            <a:off x="411480" y="1298448"/>
            <a:ext cx="4160520" cy="804672"/>
          </a:xfrm>
          <a:prstGeom prst="roundRect">
            <a:avLst>
              <a:gd fmla="val 16667" name="adj"/>
            </a:avLst>
          </a:prstGeom>
          <a:solidFill>
            <a:srgbClr val="0F2236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14"/>
          <p:cNvSpPr txBox="1"/>
          <p:nvPr/>
        </p:nvSpPr>
        <p:spPr>
          <a:xfrm>
            <a:off x="548640" y="1408176"/>
            <a:ext cx="457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0C2CB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/>
          </a:p>
        </p:txBody>
      </p:sp>
      <p:sp>
        <p:nvSpPr>
          <p:cNvPr id="114" name="Google Shape;114;p14"/>
          <p:cNvSpPr txBox="1"/>
          <p:nvPr/>
        </p:nvSpPr>
        <p:spPr>
          <a:xfrm>
            <a:off x="1069848" y="1389888"/>
            <a:ext cx="338327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OLS Elasticity by package</a:t>
            </a:r>
            <a:endParaRPr/>
          </a:p>
        </p:txBody>
      </p:sp>
      <p:sp>
        <p:nvSpPr>
          <p:cNvPr id="115" name="Google Shape;115;p14"/>
          <p:cNvSpPr txBox="1"/>
          <p:nvPr/>
        </p:nvSpPr>
        <p:spPr>
          <a:xfrm>
            <a:off x="1069848" y="1682495"/>
            <a:ext cx="3383279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7AABB8"/>
                </a:solidFill>
                <a:latin typeface="Calibri"/>
                <a:ea typeface="Calibri"/>
                <a:cs typeface="Calibri"/>
                <a:sym typeface="Calibri"/>
              </a:rPr>
              <a:t>How much each package can sustain a price increase</a:t>
            </a:r>
            <a:endParaRPr/>
          </a:p>
        </p:txBody>
      </p:sp>
      <p:sp>
        <p:nvSpPr>
          <p:cNvPr id="116" name="Google Shape;116;p14"/>
          <p:cNvSpPr/>
          <p:nvPr/>
        </p:nvSpPr>
        <p:spPr>
          <a:xfrm>
            <a:off x="4800600" y="1298448"/>
            <a:ext cx="4160520" cy="804672"/>
          </a:xfrm>
          <a:prstGeom prst="roundRect">
            <a:avLst>
              <a:gd fmla="val 16667" name="adj"/>
            </a:avLst>
          </a:prstGeom>
          <a:solidFill>
            <a:srgbClr val="0F2236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14"/>
          <p:cNvSpPr txBox="1"/>
          <p:nvPr/>
        </p:nvSpPr>
        <p:spPr>
          <a:xfrm>
            <a:off x="4937760" y="1408176"/>
            <a:ext cx="457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0C2CB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/>
          </a:p>
        </p:txBody>
      </p:sp>
      <p:sp>
        <p:nvSpPr>
          <p:cNvPr id="118" name="Google Shape;118;p14"/>
          <p:cNvSpPr txBox="1"/>
          <p:nvPr/>
        </p:nvSpPr>
        <p:spPr>
          <a:xfrm>
            <a:off x="5458968" y="1389888"/>
            <a:ext cx="338327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95% CI — Uncertainty range</a:t>
            </a:r>
            <a:endParaRPr/>
          </a:p>
        </p:txBody>
      </p:sp>
      <p:sp>
        <p:nvSpPr>
          <p:cNvPr id="119" name="Google Shape;119;p14"/>
          <p:cNvSpPr txBox="1"/>
          <p:nvPr/>
        </p:nvSpPr>
        <p:spPr>
          <a:xfrm>
            <a:off x="5458968" y="1682495"/>
            <a:ext cx="3383279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7AABB8"/>
                </a:solidFill>
                <a:latin typeface="Calibri"/>
                <a:ea typeface="Calibri"/>
                <a:cs typeface="Calibri"/>
                <a:sym typeface="Calibri"/>
              </a:rPr>
              <a:t>Pessimistic vs. optimistic scenario by channel</a:t>
            </a:r>
            <a:endParaRPr/>
          </a:p>
        </p:txBody>
      </p:sp>
      <p:sp>
        <p:nvSpPr>
          <p:cNvPr id="120" name="Google Shape;120;p14"/>
          <p:cNvSpPr/>
          <p:nvPr/>
        </p:nvSpPr>
        <p:spPr>
          <a:xfrm>
            <a:off x="411480" y="2258568"/>
            <a:ext cx="4160520" cy="804672"/>
          </a:xfrm>
          <a:prstGeom prst="roundRect">
            <a:avLst>
              <a:gd fmla="val 16667" name="adj"/>
            </a:avLst>
          </a:prstGeom>
          <a:solidFill>
            <a:srgbClr val="0F2236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14"/>
          <p:cNvSpPr txBox="1"/>
          <p:nvPr/>
        </p:nvSpPr>
        <p:spPr>
          <a:xfrm>
            <a:off x="548640" y="2368296"/>
            <a:ext cx="457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0C2CB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/>
          </a:p>
        </p:txBody>
      </p:sp>
      <p:sp>
        <p:nvSpPr>
          <p:cNvPr id="122" name="Google Shape;122;p14"/>
          <p:cNvSpPr txBox="1"/>
          <p:nvPr/>
        </p:nvSpPr>
        <p:spPr>
          <a:xfrm>
            <a:off x="1069848" y="2350008"/>
            <a:ext cx="338327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Willingness-to-Pay (WTP)</a:t>
            </a:r>
            <a:endParaRPr/>
          </a:p>
        </p:txBody>
      </p:sp>
      <p:sp>
        <p:nvSpPr>
          <p:cNvPr id="123" name="Google Shape;123;p14"/>
          <p:cNvSpPr txBox="1"/>
          <p:nvPr/>
        </p:nvSpPr>
        <p:spPr>
          <a:xfrm>
            <a:off x="1069848" y="2642615"/>
            <a:ext cx="3383279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7AABB8"/>
                </a:solidFill>
                <a:latin typeface="Calibri"/>
                <a:ea typeface="Calibri"/>
                <a:cs typeface="Calibri"/>
                <a:sym typeface="Calibri"/>
              </a:rPr>
              <a:t>What each segment is willing to pay</a:t>
            </a:r>
            <a:endParaRPr/>
          </a:p>
        </p:txBody>
      </p:sp>
      <p:sp>
        <p:nvSpPr>
          <p:cNvPr id="124" name="Google Shape;124;p14"/>
          <p:cNvSpPr/>
          <p:nvPr/>
        </p:nvSpPr>
        <p:spPr>
          <a:xfrm>
            <a:off x="4800600" y="2258568"/>
            <a:ext cx="4160520" cy="804672"/>
          </a:xfrm>
          <a:prstGeom prst="roundRect">
            <a:avLst>
              <a:gd fmla="val 16667" name="adj"/>
            </a:avLst>
          </a:prstGeom>
          <a:solidFill>
            <a:srgbClr val="0F2236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14"/>
          <p:cNvSpPr txBox="1"/>
          <p:nvPr/>
        </p:nvSpPr>
        <p:spPr>
          <a:xfrm>
            <a:off x="4937760" y="2368296"/>
            <a:ext cx="457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0C2CB"/>
                </a:solidFill>
                <a:latin typeface="Calibri"/>
                <a:ea typeface="Calibri"/>
                <a:cs typeface="Calibri"/>
                <a:sym typeface="Calibri"/>
              </a:rPr>
              <a:t>04</a:t>
            </a:r>
            <a:endParaRPr/>
          </a:p>
        </p:txBody>
      </p:sp>
      <p:sp>
        <p:nvSpPr>
          <p:cNvPr id="126" name="Google Shape;126;p14"/>
          <p:cNvSpPr txBox="1"/>
          <p:nvPr/>
        </p:nvSpPr>
        <p:spPr>
          <a:xfrm>
            <a:off x="5458968" y="2350008"/>
            <a:ext cx="338327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Bundle cannibalization</a:t>
            </a:r>
            <a:endParaRPr/>
          </a:p>
        </p:txBody>
      </p:sp>
      <p:sp>
        <p:nvSpPr>
          <p:cNvPr id="127" name="Google Shape;127;p14"/>
          <p:cNvSpPr txBox="1"/>
          <p:nvPr/>
        </p:nvSpPr>
        <p:spPr>
          <a:xfrm>
            <a:off x="5458968" y="2642615"/>
            <a:ext cx="3383279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7AABB8"/>
                </a:solidFill>
                <a:latin typeface="Calibri"/>
                <a:ea typeface="Calibri"/>
                <a:cs typeface="Calibri"/>
                <a:sym typeface="Calibri"/>
              </a:rPr>
              <a:t>Price adjustment impact on other packages</a:t>
            </a:r>
            <a:endParaRPr/>
          </a:p>
        </p:txBody>
      </p:sp>
      <p:sp>
        <p:nvSpPr>
          <p:cNvPr id="128" name="Google Shape;128;p14"/>
          <p:cNvSpPr/>
          <p:nvPr/>
        </p:nvSpPr>
        <p:spPr>
          <a:xfrm>
            <a:off x="2606040" y="3218688"/>
            <a:ext cx="3931920" cy="804672"/>
          </a:xfrm>
          <a:prstGeom prst="roundRect">
            <a:avLst>
              <a:gd fmla="val 16667" name="adj"/>
            </a:avLst>
          </a:prstGeom>
          <a:solidFill>
            <a:srgbClr val="0F2236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14"/>
          <p:cNvSpPr txBox="1"/>
          <p:nvPr/>
        </p:nvSpPr>
        <p:spPr>
          <a:xfrm>
            <a:off x="2743200" y="3328416"/>
            <a:ext cx="457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0C2CB"/>
                </a:solidFill>
                <a:latin typeface="Calibri"/>
                <a:ea typeface="Calibri"/>
                <a:cs typeface="Calibri"/>
                <a:sym typeface="Calibri"/>
              </a:rPr>
              <a:t>05</a:t>
            </a:r>
            <a:endParaRPr/>
          </a:p>
        </p:txBody>
      </p:sp>
      <p:sp>
        <p:nvSpPr>
          <p:cNvPr id="130" name="Google Shape;130;p14"/>
          <p:cNvSpPr txBox="1"/>
          <p:nvPr/>
        </p:nvSpPr>
        <p:spPr>
          <a:xfrm>
            <a:off x="3264408" y="3310128"/>
            <a:ext cx="315467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Optimal seasonal timing</a:t>
            </a:r>
            <a:endParaRPr/>
          </a:p>
        </p:txBody>
      </p:sp>
      <p:sp>
        <p:nvSpPr>
          <p:cNvPr id="131" name="Google Shape;131;p14"/>
          <p:cNvSpPr txBox="1"/>
          <p:nvPr/>
        </p:nvSpPr>
        <p:spPr>
          <a:xfrm>
            <a:off x="3264408" y="3602736"/>
            <a:ext cx="3154679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7AABB8"/>
                </a:solidFill>
                <a:latin typeface="Calibri"/>
                <a:ea typeface="Calibri"/>
                <a:cs typeface="Calibri"/>
                <a:sym typeface="Calibri"/>
              </a:rPr>
              <a:t>The best month to implement each price adjustment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7FA"/>
        </a:solid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15"/>
          <p:cNvSpPr/>
          <p:nvPr/>
        </p:nvSpPr>
        <p:spPr>
          <a:xfrm>
            <a:off x="411480" y="109728"/>
            <a:ext cx="1920240" cy="265176"/>
          </a:xfrm>
          <a:prstGeom prst="roundRect">
            <a:avLst>
              <a:gd fmla="val 16667" name="adj"/>
            </a:avLst>
          </a:prstGeom>
          <a:solidFill>
            <a:srgbClr val="00C2CB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91425" spcFirstLastPara="1" rIns="91425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01  OLS ELASTICITY</a:t>
            </a:r>
            <a:endParaRPr/>
          </a:p>
        </p:txBody>
      </p:sp>
      <p:sp>
        <p:nvSpPr>
          <p:cNvPr id="137" name="Google Shape;137;p15"/>
          <p:cNvSpPr txBox="1"/>
          <p:nvPr/>
        </p:nvSpPr>
        <p:spPr>
          <a:xfrm>
            <a:off x="411480" y="475488"/>
            <a:ext cx="83210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How much each package can sustain a price increase</a:t>
            </a:r>
            <a:endParaRPr/>
          </a:p>
        </p:txBody>
      </p:sp>
      <p:sp>
        <p:nvSpPr>
          <p:cNvPr id="138" name="Google Shape;138;p15"/>
          <p:cNvSpPr txBox="1"/>
          <p:nvPr/>
        </p:nvSpPr>
        <p:spPr>
          <a:xfrm>
            <a:off x="411480" y="969264"/>
            <a:ext cx="83210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B7E93"/>
                </a:solidFill>
                <a:latin typeface="Calibri"/>
                <a:ea typeface="Calibri"/>
                <a:cs typeface="Calibri"/>
                <a:sym typeface="Calibri"/>
              </a:rPr>
              <a:t>OLS log-log regression estimated on 144 observations  ·  ln(Subscribers) = α + β·ln(Price) + γ·Season + δ·Promo</a:t>
            </a:r>
            <a:endParaRPr/>
          </a:p>
        </p:txBody>
      </p:sp>
      <p:sp>
        <p:nvSpPr>
          <p:cNvPr id="139" name="Google Shape;139;p15"/>
          <p:cNvSpPr/>
          <p:nvPr/>
        </p:nvSpPr>
        <p:spPr>
          <a:xfrm>
            <a:off x="411480" y="1316736"/>
            <a:ext cx="8321040" cy="420624"/>
          </a:xfrm>
          <a:prstGeom prst="roundRect">
            <a:avLst>
              <a:gd fmla="val 16667" name="adj"/>
            </a:avLst>
          </a:prstGeom>
          <a:solidFill>
            <a:srgbClr val="1A2E4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15"/>
          <p:cNvSpPr txBox="1"/>
          <p:nvPr/>
        </p:nvSpPr>
        <p:spPr>
          <a:xfrm>
            <a:off x="502920" y="1371600"/>
            <a:ext cx="81381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50" u="none" cap="none" strike="noStrike">
                <a:solidFill>
                  <a:srgbClr val="00C2CB"/>
                </a:solidFill>
                <a:latin typeface="Calibri"/>
                <a:ea typeface="Calibri"/>
                <a:cs typeface="Calibri"/>
                <a:sym typeface="Calibri"/>
              </a:rPr>
              <a:t>β = Price Elasticity  ·  β &lt; −1.0: Elastic (sensitive)  ·  −1.0 &lt; β &lt; −0.5: Moderately inelastic  ·  β &gt; −0.5: Strongly inelastic (can raise price)</a:t>
            </a:r>
            <a:endParaRPr/>
          </a:p>
        </p:txBody>
      </p:sp>
      <p:pic>
        <p:nvPicPr>
          <p:cNvPr id="141" name="Google Shape;14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1480" y="1847088"/>
            <a:ext cx="5120640" cy="2560320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15"/>
          <p:cNvSpPr/>
          <p:nvPr/>
        </p:nvSpPr>
        <p:spPr>
          <a:xfrm>
            <a:off x="5669280" y="1847088"/>
            <a:ext cx="3063240" cy="384048"/>
          </a:xfrm>
          <a:prstGeom prst="roundRect">
            <a:avLst>
              <a:gd fmla="val 16667" name="adj"/>
            </a:avLst>
          </a:prstGeom>
          <a:solidFill>
            <a:srgbClr val="E9F7E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15"/>
          <p:cNvSpPr txBox="1"/>
          <p:nvPr/>
        </p:nvSpPr>
        <p:spPr>
          <a:xfrm>
            <a:off x="5760720" y="1847088"/>
            <a:ext cx="10972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Football</a:t>
            </a:r>
            <a:endParaRPr/>
          </a:p>
        </p:txBody>
      </p:sp>
      <p:sp>
        <p:nvSpPr>
          <p:cNvPr id="144" name="Google Shape;144;p15"/>
          <p:cNvSpPr txBox="1"/>
          <p:nvPr/>
        </p:nvSpPr>
        <p:spPr>
          <a:xfrm>
            <a:off x="6876288" y="1847088"/>
            <a:ext cx="5486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E8449"/>
                </a:solidFill>
                <a:latin typeface="Calibri"/>
                <a:ea typeface="Calibri"/>
                <a:cs typeface="Calibri"/>
                <a:sym typeface="Calibri"/>
              </a:rPr>
              <a:t>−0.36</a:t>
            </a:r>
            <a:endParaRPr/>
          </a:p>
        </p:txBody>
      </p:sp>
      <p:sp>
        <p:nvSpPr>
          <p:cNvPr id="145" name="Google Shape;145;p15"/>
          <p:cNvSpPr txBox="1"/>
          <p:nvPr/>
        </p:nvSpPr>
        <p:spPr>
          <a:xfrm>
            <a:off x="7443216" y="1847088"/>
            <a:ext cx="12344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1E8449"/>
                </a:solidFill>
                <a:latin typeface="Calibri"/>
                <a:ea typeface="Calibri"/>
                <a:cs typeface="Calibri"/>
                <a:sym typeface="Calibri"/>
              </a:rPr>
              <a:t>STRONGLY INELASTIC</a:t>
            </a:r>
            <a:endParaRPr/>
          </a:p>
        </p:txBody>
      </p:sp>
      <p:sp>
        <p:nvSpPr>
          <p:cNvPr id="146" name="Google Shape;146;p15"/>
          <p:cNvSpPr/>
          <p:nvPr/>
        </p:nvSpPr>
        <p:spPr>
          <a:xfrm>
            <a:off x="5669280" y="2275027"/>
            <a:ext cx="3063240" cy="384048"/>
          </a:xfrm>
          <a:prstGeom prst="roundRect">
            <a:avLst>
              <a:gd fmla="val 16667" name="adj"/>
            </a:avLst>
          </a:prstGeom>
          <a:solidFill>
            <a:srgbClr val="E9F7E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15"/>
          <p:cNvSpPr txBox="1"/>
          <p:nvPr/>
        </p:nvSpPr>
        <p:spPr>
          <a:xfrm>
            <a:off x="5760720" y="2275027"/>
            <a:ext cx="10972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MMA / Combat</a:t>
            </a:r>
            <a:endParaRPr/>
          </a:p>
        </p:txBody>
      </p:sp>
      <p:sp>
        <p:nvSpPr>
          <p:cNvPr id="148" name="Google Shape;148;p15"/>
          <p:cNvSpPr txBox="1"/>
          <p:nvPr/>
        </p:nvSpPr>
        <p:spPr>
          <a:xfrm>
            <a:off x="6876288" y="2275027"/>
            <a:ext cx="5486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E8449"/>
                </a:solidFill>
                <a:latin typeface="Calibri"/>
                <a:ea typeface="Calibri"/>
                <a:cs typeface="Calibri"/>
                <a:sym typeface="Calibri"/>
              </a:rPr>
              <a:t>−0.54</a:t>
            </a:r>
            <a:endParaRPr/>
          </a:p>
        </p:txBody>
      </p:sp>
      <p:sp>
        <p:nvSpPr>
          <p:cNvPr id="149" name="Google Shape;149;p15"/>
          <p:cNvSpPr txBox="1"/>
          <p:nvPr/>
        </p:nvSpPr>
        <p:spPr>
          <a:xfrm>
            <a:off x="7443216" y="2275027"/>
            <a:ext cx="12344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1E8449"/>
                </a:solidFill>
                <a:latin typeface="Calibri"/>
                <a:ea typeface="Calibri"/>
                <a:cs typeface="Calibri"/>
                <a:sym typeface="Calibri"/>
              </a:rPr>
              <a:t>STRONGLY INELASTIC</a:t>
            </a:r>
            <a:endParaRPr/>
          </a:p>
        </p:txBody>
      </p:sp>
      <p:sp>
        <p:nvSpPr>
          <p:cNvPr id="150" name="Google Shape;150;p15"/>
          <p:cNvSpPr/>
          <p:nvPr/>
        </p:nvSpPr>
        <p:spPr>
          <a:xfrm>
            <a:off x="5669280" y="2702966"/>
            <a:ext cx="3063240" cy="384048"/>
          </a:xfrm>
          <a:prstGeom prst="roundRect">
            <a:avLst>
              <a:gd fmla="val 16667" name="adj"/>
            </a:avLst>
          </a:prstGeom>
          <a:solidFill>
            <a:srgbClr val="E9F7E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15"/>
          <p:cNvSpPr txBox="1"/>
          <p:nvPr/>
        </p:nvSpPr>
        <p:spPr>
          <a:xfrm>
            <a:off x="5760720" y="2702966"/>
            <a:ext cx="10972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Bundle Plus</a:t>
            </a:r>
            <a:endParaRPr/>
          </a:p>
        </p:txBody>
      </p:sp>
      <p:sp>
        <p:nvSpPr>
          <p:cNvPr id="152" name="Google Shape;152;p15"/>
          <p:cNvSpPr txBox="1"/>
          <p:nvPr/>
        </p:nvSpPr>
        <p:spPr>
          <a:xfrm>
            <a:off x="6876288" y="2702966"/>
            <a:ext cx="5486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E8449"/>
                </a:solidFill>
                <a:latin typeface="Calibri"/>
                <a:ea typeface="Calibri"/>
                <a:cs typeface="Calibri"/>
                <a:sym typeface="Calibri"/>
              </a:rPr>
              <a:t>−0.46</a:t>
            </a:r>
            <a:endParaRPr/>
          </a:p>
        </p:txBody>
      </p:sp>
      <p:sp>
        <p:nvSpPr>
          <p:cNvPr id="153" name="Google Shape;153;p15"/>
          <p:cNvSpPr txBox="1"/>
          <p:nvPr/>
        </p:nvSpPr>
        <p:spPr>
          <a:xfrm>
            <a:off x="7443216" y="2702966"/>
            <a:ext cx="12344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1E8449"/>
                </a:solidFill>
                <a:latin typeface="Calibri"/>
                <a:ea typeface="Calibri"/>
                <a:cs typeface="Calibri"/>
                <a:sym typeface="Calibri"/>
              </a:rPr>
              <a:t>STRONGLY INELASTIC</a:t>
            </a:r>
            <a:endParaRPr/>
          </a:p>
        </p:txBody>
      </p:sp>
      <p:sp>
        <p:nvSpPr>
          <p:cNvPr id="154" name="Google Shape;154;p15"/>
          <p:cNvSpPr/>
          <p:nvPr/>
        </p:nvSpPr>
        <p:spPr>
          <a:xfrm>
            <a:off x="5669280" y="3130905"/>
            <a:ext cx="3063240" cy="384048"/>
          </a:xfrm>
          <a:prstGeom prst="roundRect">
            <a:avLst>
              <a:gd fmla="val 16667" name="adj"/>
            </a:avLst>
          </a:prstGeom>
          <a:solidFill>
            <a:srgbClr val="FEF3E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15"/>
          <p:cNvSpPr txBox="1"/>
          <p:nvPr/>
        </p:nvSpPr>
        <p:spPr>
          <a:xfrm>
            <a:off x="5760720" y="3130905"/>
            <a:ext cx="10972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Family</a:t>
            </a:r>
            <a:endParaRPr/>
          </a:p>
        </p:txBody>
      </p:sp>
      <p:sp>
        <p:nvSpPr>
          <p:cNvPr id="156" name="Google Shape;156;p15"/>
          <p:cNvSpPr txBox="1"/>
          <p:nvPr/>
        </p:nvSpPr>
        <p:spPr>
          <a:xfrm>
            <a:off x="6876288" y="3130905"/>
            <a:ext cx="5486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E67E22"/>
                </a:solidFill>
                <a:latin typeface="Calibri"/>
                <a:ea typeface="Calibri"/>
                <a:cs typeface="Calibri"/>
                <a:sym typeface="Calibri"/>
              </a:rPr>
              <a:t>−0.73</a:t>
            </a:r>
            <a:endParaRPr/>
          </a:p>
        </p:txBody>
      </p:sp>
      <p:sp>
        <p:nvSpPr>
          <p:cNvPr id="157" name="Google Shape;157;p15"/>
          <p:cNvSpPr txBox="1"/>
          <p:nvPr/>
        </p:nvSpPr>
        <p:spPr>
          <a:xfrm>
            <a:off x="7443216" y="3130905"/>
            <a:ext cx="12344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E67E22"/>
                </a:solidFill>
                <a:latin typeface="Calibri"/>
                <a:ea typeface="Calibri"/>
                <a:cs typeface="Calibri"/>
                <a:sym typeface="Calibri"/>
              </a:rPr>
              <a:t>MODERATELY INEL.</a:t>
            </a:r>
            <a:endParaRPr/>
          </a:p>
        </p:txBody>
      </p:sp>
      <p:sp>
        <p:nvSpPr>
          <p:cNvPr id="158" name="Google Shape;158;p15"/>
          <p:cNvSpPr/>
          <p:nvPr/>
        </p:nvSpPr>
        <p:spPr>
          <a:xfrm>
            <a:off x="5669280" y="3558844"/>
            <a:ext cx="3063240" cy="384048"/>
          </a:xfrm>
          <a:prstGeom prst="roundRect">
            <a:avLst>
              <a:gd fmla="val 16667" name="adj"/>
            </a:avLst>
          </a:prstGeom>
          <a:solidFill>
            <a:srgbClr val="FEF3E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15"/>
          <p:cNvSpPr txBox="1"/>
          <p:nvPr/>
        </p:nvSpPr>
        <p:spPr>
          <a:xfrm>
            <a:off x="5760720" y="3558844"/>
            <a:ext cx="10972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Kids</a:t>
            </a:r>
            <a:endParaRPr/>
          </a:p>
        </p:txBody>
      </p:sp>
      <p:sp>
        <p:nvSpPr>
          <p:cNvPr id="160" name="Google Shape;160;p15"/>
          <p:cNvSpPr txBox="1"/>
          <p:nvPr/>
        </p:nvSpPr>
        <p:spPr>
          <a:xfrm>
            <a:off x="6876288" y="3558844"/>
            <a:ext cx="5486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E67E22"/>
                </a:solidFill>
                <a:latin typeface="Calibri"/>
                <a:ea typeface="Calibri"/>
                <a:cs typeface="Calibri"/>
                <a:sym typeface="Calibri"/>
              </a:rPr>
              <a:t>−0.72</a:t>
            </a:r>
            <a:endParaRPr/>
          </a:p>
        </p:txBody>
      </p:sp>
      <p:sp>
        <p:nvSpPr>
          <p:cNvPr id="161" name="Google Shape;161;p15"/>
          <p:cNvSpPr txBox="1"/>
          <p:nvPr/>
        </p:nvSpPr>
        <p:spPr>
          <a:xfrm>
            <a:off x="7443216" y="3558844"/>
            <a:ext cx="12344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E67E22"/>
                </a:solidFill>
                <a:latin typeface="Calibri"/>
                <a:ea typeface="Calibri"/>
                <a:cs typeface="Calibri"/>
                <a:sym typeface="Calibri"/>
              </a:rPr>
              <a:t>MODERATELY INEL.</a:t>
            </a:r>
            <a:endParaRPr/>
          </a:p>
        </p:txBody>
      </p:sp>
      <p:sp>
        <p:nvSpPr>
          <p:cNvPr id="162" name="Google Shape;162;p15"/>
          <p:cNvSpPr/>
          <p:nvPr/>
        </p:nvSpPr>
        <p:spPr>
          <a:xfrm>
            <a:off x="5669280" y="3986784"/>
            <a:ext cx="3063240" cy="384048"/>
          </a:xfrm>
          <a:prstGeom prst="roundRect">
            <a:avLst>
              <a:gd fmla="val 16667" name="adj"/>
            </a:avLst>
          </a:prstGeom>
          <a:solidFill>
            <a:srgbClr val="FDECE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15"/>
          <p:cNvSpPr txBox="1"/>
          <p:nvPr/>
        </p:nvSpPr>
        <p:spPr>
          <a:xfrm>
            <a:off x="5760720" y="3986784"/>
            <a:ext cx="10972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Series / Films</a:t>
            </a:r>
            <a:endParaRPr/>
          </a:p>
        </p:txBody>
      </p:sp>
      <p:sp>
        <p:nvSpPr>
          <p:cNvPr id="164" name="Google Shape;164;p15"/>
          <p:cNvSpPr txBox="1"/>
          <p:nvPr/>
        </p:nvSpPr>
        <p:spPr>
          <a:xfrm>
            <a:off x="6876288" y="3986784"/>
            <a:ext cx="5486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−1.35</a:t>
            </a:r>
            <a:endParaRPr/>
          </a:p>
        </p:txBody>
      </p:sp>
      <p:sp>
        <p:nvSpPr>
          <p:cNvPr id="165" name="Google Shape;165;p15"/>
          <p:cNvSpPr txBox="1"/>
          <p:nvPr/>
        </p:nvSpPr>
        <p:spPr>
          <a:xfrm>
            <a:off x="7443216" y="3986784"/>
            <a:ext cx="12344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ELASTIC</a:t>
            </a:r>
            <a:endParaRPr/>
          </a:p>
        </p:txBody>
      </p:sp>
      <p:sp>
        <p:nvSpPr>
          <p:cNvPr id="166" name="Google Shape;166;p15"/>
          <p:cNvSpPr/>
          <p:nvPr/>
        </p:nvSpPr>
        <p:spPr>
          <a:xfrm>
            <a:off x="411480" y="4517143"/>
            <a:ext cx="8321100" cy="548700"/>
          </a:xfrm>
          <a:prstGeom prst="roundRect">
            <a:avLst>
              <a:gd fmla="val 16667" name="adj"/>
            </a:avLst>
          </a:prstGeom>
          <a:solidFill>
            <a:srgbClr val="D6EAF8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15"/>
          <p:cNvSpPr txBox="1"/>
          <p:nvPr/>
        </p:nvSpPr>
        <p:spPr>
          <a:xfrm>
            <a:off x="502920" y="4517144"/>
            <a:ext cx="8138100" cy="4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💡  Series/Films is the only elastic package (β=−1.35) — raising price here REDUCES revenue. Football (β=−0.36) is the most inelastic: each +10% price increase reduces only 3.6% of the base. Adjustment priority: Football → MMA → Bundle Plus.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7FA"/>
        </a:solid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16"/>
          <p:cNvSpPr/>
          <p:nvPr/>
        </p:nvSpPr>
        <p:spPr>
          <a:xfrm>
            <a:off x="411480" y="109728"/>
            <a:ext cx="1920240" cy="265176"/>
          </a:xfrm>
          <a:prstGeom prst="roundRect">
            <a:avLst>
              <a:gd fmla="val 16667" name="adj"/>
            </a:avLst>
          </a:prstGeom>
          <a:solidFill>
            <a:srgbClr val="00C2CB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91425" spcFirstLastPara="1" rIns="91425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02  95% CI — UNCERTAINTY</a:t>
            </a:r>
            <a:endParaRPr/>
          </a:p>
        </p:txBody>
      </p:sp>
      <p:sp>
        <p:nvSpPr>
          <p:cNvPr id="173" name="Google Shape;173;p16"/>
          <p:cNvSpPr txBox="1"/>
          <p:nvPr/>
        </p:nvSpPr>
        <p:spPr>
          <a:xfrm>
            <a:off x="411480" y="475488"/>
            <a:ext cx="83210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Uncertainty range: what the model guarantees </a:t>
            </a:r>
            <a:endParaRPr b="1" i="0" sz="2400" u="none" cap="none" strike="noStrike">
              <a:solidFill>
                <a:srgbClr val="0D1B2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vs. what is an estimate</a:t>
            </a:r>
            <a:endParaRPr/>
          </a:p>
        </p:txBody>
      </p:sp>
      <p:sp>
        <p:nvSpPr>
          <p:cNvPr id="174" name="Google Shape;174;p16"/>
          <p:cNvSpPr txBox="1"/>
          <p:nvPr/>
        </p:nvSpPr>
        <p:spPr>
          <a:xfrm>
            <a:off x="3558050" y="918825"/>
            <a:ext cx="4988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B7E93"/>
                </a:solidFill>
                <a:latin typeface="Calibri"/>
                <a:ea typeface="Calibri"/>
                <a:cs typeface="Calibri"/>
                <a:sym typeface="Calibri"/>
              </a:rPr>
              <a:t>95% CI = β ± 1.96 × SE(β)  ·  Planning should use CI Low as the conservative scenario</a:t>
            </a:r>
            <a:endParaRPr/>
          </a:p>
        </p:txBody>
      </p:sp>
      <p:sp>
        <p:nvSpPr>
          <p:cNvPr id="175" name="Google Shape;175;p16"/>
          <p:cNvSpPr/>
          <p:nvPr/>
        </p:nvSpPr>
        <p:spPr>
          <a:xfrm>
            <a:off x="411480" y="1316736"/>
            <a:ext cx="2670048" cy="1261872"/>
          </a:xfrm>
          <a:prstGeom prst="roundRect">
            <a:avLst>
              <a:gd fmla="val 16667" name="adj"/>
            </a:avLst>
          </a:prstGeom>
          <a:solidFill>
            <a:srgbClr val="FDECE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16"/>
          <p:cNvSpPr txBox="1"/>
          <p:nvPr/>
        </p:nvSpPr>
        <p:spPr>
          <a:xfrm>
            <a:off x="502920" y="1371600"/>
            <a:ext cx="2487168" cy="4023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PESSIMISTIC SCENARIO</a:t>
            </a:r>
            <a:br>
              <a:rPr b="1" i="0" lang="en-US" sz="9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9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(β = CI Low)</a:t>
            </a:r>
            <a:endParaRPr/>
          </a:p>
        </p:txBody>
      </p:sp>
      <p:sp>
        <p:nvSpPr>
          <p:cNvPr id="177" name="Google Shape;177;p16"/>
          <p:cNvSpPr txBox="1"/>
          <p:nvPr/>
        </p:nvSpPr>
        <p:spPr>
          <a:xfrm>
            <a:off x="502920" y="1755648"/>
            <a:ext cx="2487168" cy="475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−R$2.1M</a:t>
            </a:r>
            <a:endParaRPr/>
          </a:p>
        </p:txBody>
      </p:sp>
      <p:sp>
        <p:nvSpPr>
          <p:cNvPr id="178" name="Google Shape;178;p16"/>
          <p:cNvSpPr txBox="1"/>
          <p:nvPr/>
        </p:nvSpPr>
        <p:spPr>
          <a:xfrm>
            <a:off x="502920" y="2212848"/>
            <a:ext cx="2487168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E93"/>
                </a:solidFill>
                <a:latin typeface="Calibri"/>
                <a:ea typeface="Calibri"/>
                <a:cs typeface="Calibri"/>
                <a:sym typeface="Calibri"/>
              </a:rPr>
              <a:t>Monthly revenue</a:t>
            </a:r>
            <a:br>
              <a:rPr b="0" i="0" lang="en-US" sz="900" u="none" cap="none" strike="noStrike">
                <a:solidFill>
                  <a:srgbClr val="6B7E9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900" u="none" cap="none" strike="noStrike">
                <a:solidFill>
                  <a:srgbClr val="6B7E93"/>
                </a:solidFill>
                <a:latin typeface="Calibri"/>
                <a:ea typeface="Calibri"/>
                <a:cs typeface="Calibri"/>
                <a:sym typeface="Calibri"/>
              </a:rPr>
              <a:t>if elasticity at floor</a:t>
            </a:r>
            <a:endParaRPr/>
          </a:p>
        </p:txBody>
      </p:sp>
      <p:sp>
        <p:nvSpPr>
          <p:cNvPr id="179" name="Google Shape;179;p16"/>
          <p:cNvSpPr/>
          <p:nvPr/>
        </p:nvSpPr>
        <p:spPr>
          <a:xfrm>
            <a:off x="3227832" y="1316736"/>
            <a:ext cx="2670048" cy="1261872"/>
          </a:xfrm>
          <a:prstGeom prst="roundRect">
            <a:avLst>
              <a:gd fmla="val 16667" name="adj"/>
            </a:avLst>
          </a:prstGeom>
          <a:solidFill>
            <a:srgbClr val="E9F7E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16"/>
          <p:cNvSpPr txBox="1"/>
          <p:nvPr/>
        </p:nvSpPr>
        <p:spPr>
          <a:xfrm>
            <a:off x="3319272" y="1371600"/>
            <a:ext cx="2487168" cy="4023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CENTRAL SCENARIO</a:t>
            </a:r>
            <a:br>
              <a:rPr b="1" i="0" lang="en-US" sz="9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9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(β OLS estimated)</a:t>
            </a:r>
            <a:endParaRPr/>
          </a:p>
        </p:txBody>
      </p:sp>
      <p:sp>
        <p:nvSpPr>
          <p:cNvPr id="181" name="Google Shape;181;p16"/>
          <p:cNvSpPr txBox="1"/>
          <p:nvPr/>
        </p:nvSpPr>
        <p:spPr>
          <a:xfrm>
            <a:off x="3319272" y="1755648"/>
            <a:ext cx="2487168" cy="475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1E8449"/>
                </a:solidFill>
                <a:latin typeface="Calibri"/>
                <a:ea typeface="Calibri"/>
                <a:cs typeface="Calibri"/>
                <a:sym typeface="Calibri"/>
              </a:rPr>
              <a:t>+R$4.8M</a:t>
            </a:r>
            <a:endParaRPr/>
          </a:p>
        </p:txBody>
      </p:sp>
      <p:sp>
        <p:nvSpPr>
          <p:cNvPr id="182" name="Google Shape;182;p16"/>
          <p:cNvSpPr txBox="1"/>
          <p:nvPr/>
        </p:nvSpPr>
        <p:spPr>
          <a:xfrm>
            <a:off x="3319272" y="2212848"/>
            <a:ext cx="2487168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E93"/>
                </a:solidFill>
                <a:latin typeface="Calibri"/>
                <a:ea typeface="Calibri"/>
                <a:cs typeface="Calibri"/>
                <a:sym typeface="Calibri"/>
              </a:rPr>
              <a:t>Incremental revenue</a:t>
            </a:r>
            <a:br>
              <a:rPr b="0" i="0" lang="en-US" sz="900" u="none" cap="none" strike="noStrike">
                <a:solidFill>
                  <a:srgbClr val="6B7E9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900" u="none" cap="none" strike="noStrike">
                <a:solidFill>
                  <a:srgbClr val="6B7E93"/>
                </a:solidFill>
                <a:latin typeface="Calibri"/>
                <a:ea typeface="Calibri"/>
                <a:cs typeface="Calibri"/>
                <a:sym typeface="Calibri"/>
              </a:rPr>
              <a:t>with proposed prices</a:t>
            </a:r>
            <a:endParaRPr/>
          </a:p>
        </p:txBody>
      </p:sp>
      <p:sp>
        <p:nvSpPr>
          <p:cNvPr id="183" name="Google Shape;183;p16"/>
          <p:cNvSpPr/>
          <p:nvPr/>
        </p:nvSpPr>
        <p:spPr>
          <a:xfrm>
            <a:off x="6044184" y="1316736"/>
            <a:ext cx="2670048" cy="1261872"/>
          </a:xfrm>
          <a:prstGeom prst="roundRect">
            <a:avLst>
              <a:gd fmla="val 16667" name="adj"/>
            </a:avLst>
          </a:prstGeom>
          <a:solidFill>
            <a:srgbClr val="E8F4FD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16"/>
          <p:cNvSpPr txBox="1"/>
          <p:nvPr/>
        </p:nvSpPr>
        <p:spPr>
          <a:xfrm>
            <a:off x="6135624" y="1371600"/>
            <a:ext cx="2487168" cy="4023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OPTIMISTIC SCENARIO</a:t>
            </a:r>
            <a:br>
              <a:rPr b="1" i="0" lang="en-US" sz="9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9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(β = CI High)</a:t>
            </a:r>
            <a:endParaRPr/>
          </a:p>
        </p:txBody>
      </p:sp>
      <p:sp>
        <p:nvSpPr>
          <p:cNvPr id="185" name="Google Shape;185;p16"/>
          <p:cNvSpPr txBox="1"/>
          <p:nvPr/>
        </p:nvSpPr>
        <p:spPr>
          <a:xfrm>
            <a:off x="6135624" y="1755648"/>
            <a:ext cx="2487168" cy="475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00C2CB"/>
                </a:solidFill>
                <a:latin typeface="Calibri"/>
                <a:ea typeface="Calibri"/>
                <a:cs typeface="Calibri"/>
                <a:sym typeface="Calibri"/>
              </a:rPr>
              <a:t>+R$9.2M</a:t>
            </a:r>
            <a:endParaRPr/>
          </a:p>
        </p:txBody>
      </p:sp>
      <p:sp>
        <p:nvSpPr>
          <p:cNvPr id="186" name="Google Shape;186;p16"/>
          <p:cNvSpPr txBox="1"/>
          <p:nvPr/>
        </p:nvSpPr>
        <p:spPr>
          <a:xfrm>
            <a:off x="6135624" y="2212848"/>
            <a:ext cx="2487168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E93"/>
                </a:solidFill>
                <a:latin typeface="Calibri"/>
                <a:ea typeface="Calibri"/>
                <a:cs typeface="Calibri"/>
                <a:sym typeface="Calibri"/>
              </a:rPr>
              <a:t>Monthly revenue</a:t>
            </a:r>
            <a:br>
              <a:rPr b="0" i="0" lang="en-US" sz="900" u="none" cap="none" strike="noStrike">
                <a:solidFill>
                  <a:srgbClr val="6B7E9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900" u="none" cap="none" strike="noStrike">
                <a:solidFill>
                  <a:srgbClr val="6B7E93"/>
                </a:solidFill>
                <a:latin typeface="Calibri"/>
                <a:ea typeface="Calibri"/>
                <a:cs typeface="Calibri"/>
                <a:sym typeface="Calibri"/>
              </a:rPr>
              <a:t>if elasticity at ceiling</a:t>
            </a:r>
            <a:endParaRPr/>
          </a:p>
        </p:txBody>
      </p:sp>
      <p:pic>
        <p:nvPicPr>
          <p:cNvPr id="187" name="Google Shape;187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1480" y="2706624"/>
            <a:ext cx="5303520" cy="1737360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16"/>
          <p:cNvSpPr txBox="1"/>
          <p:nvPr/>
        </p:nvSpPr>
        <p:spPr>
          <a:xfrm>
            <a:off x="5852160" y="2706624"/>
            <a:ext cx="2880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Decision guide by package</a:t>
            </a:r>
            <a:endParaRPr/>
          </a:p>
        </p:txBody>
      </p:sp>
      <p:sp>
        <p:nvSpPr>
          <p:cNvPr id="189" name="Google Shape;189;p16"/>
          <p:cNvSpPr/>
          <p:nvPr/>
        </p:nvSpPr>
        <p:spPr>
          <a:xfrm>
            <a:off x="5852160" y="3035808"/>
            <a:ext cx="2880360" cy="310896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16"/>
          <p:cNvSpPr/>
          <p:nvPr/>
        </p:nvSpPr>
        <p:spPr>
          <a:xfrm>
            <a:off x="5907024" y="3090672"/>
            <a:ext cx="621792" cy="201168"/>
          </a:xfrm>
          <a:prstGeom prst="roundRect">
            <a:avLst>
              <a:gd fmla="val 16667" name="adj"/>
            </a:avLst>
          </a:prstGeom>
          <a:solidFill>
            <a:srgbClr val="E67E2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91425" spcFirstLastPara="1" rIns="91425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MED</a:t>
            </a:r>
            <a:endParaRPr/>
          </a:p>
        </p:txBody>
      </p:sp>
      <p:sp>
        <p:nvSpPr>
          <p:cNvPr id="191" name="Google Shape;191;p16"/>
          <p:cNvSpPr txBox="1"/>
          <p:nvPr/>
        </p:nvSpPr>
        <p:spPr>
          <a:xfrm>
            <a:off x="6583680" y="3035808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Football</a:t>
            </a:r>
            <a:endParaRPr/>
          </a:p>
        </p:txBody>
      </p:sp>
      <p:sp>
        <p:nvSpPr>
          <p:cNvPr id="192" name="Google Shape;192;p16"/>
          <p:cNvSpPr txBox="1"/>
          <p:nvPr/>
        </p:nvSpPr>
        <p:spPr>
          <a:xfrm>
            <a:off x="7424927" y="3035808"/>
            <a:ext cx="128016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E93"/>
                </a:solidFill>
                <a:latin typeface="Calibri"/>
                <a:ea typeface="Calibri"/>
                <a:cs typeface="Calibri"/>
                <a:sym typeface="Calibri"/>
              </a:rPr>
              <a:t>Reserve +15% in budget</a:t>
            </a:r>
            <a:endParaRPr/>
          </a:p>
        </p:txBody>
      </p:sp>
      <p:sp>
        <p:nvSpPr>
          <p:cNvPr id="193" name="Google Shape;193;p16"/>
          <p:cNvSpPr/>
          <p:nvPr/>
        </p:nvSpPr>
        <p:spPr>
          <a:xfrm>
            <a:off x="5852160" y="3383279"/>
            <a:ext cx="2880360" cy="310896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16"/>
          <p:cNvSpPr/>
          <p:nvPr/>
        </p:nvSpPr>
        <p:spPr>
          <a:xfrm>
            <a:off x="5907024" y="3438144"/>
            <a:ext cx="621792" cy="201168"/>
          </a:xfrm>
          <a:prstGeom prst="roundRect">
            <a:avLst>
              <a:gd fmla="val 16667" name="adj"/>
            </a:avLst>
          </a:prstGeom>
          <a:solidFill>
            <a:srgbClr val="E67E2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91425" spcFirstLastPara="1" rIns="91425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MED</a:t>
            </a:r>
            <a:endParaRPr/>
          </a:p>
        </p:txBody>
      </p:sp>
      <p:sp>
        <p:nvSpPr>
          <p:cNvPr id="195" name="Google Shape;195;p16"/>
          <p:cNvSpPr txBox="1"/>
          <p:nvPr/>
        </p:nvSpPr>
        <p:spPr>
          <a:xfrm>
            <a:off x="6583680" y="3383279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MMA</a:t>
            </a:r>
            <a:endParaRPr/>
          </a:p>
        </p:txBody>
      </p:sp>
      <p:sp>
        <p:nvSpPr>
          <p:cNvPr id="196" name="Google Shape;196;p16"/>
          <p:cNvSpPr txBox="1"/>
          <p:nvPr/>
        </p:nvSpPr>
        <p:spPr>
          <a:xfrm>
            <a:off x="7424927" y="3383279"/>
            <a:ext cx="128016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E93"/>
                </a:solidFill>
                <a:latin typeface="Calibri"/>
                <a:ea typeface="Calibri"/>
                <a:cs typeface="Calibri"/>
                <a:sym typeface="Calibri"/>
              </a:rPr>
              <a:t>Reserve +15% in budget</a:t>
            </a:r>
            <a:endParaRPr/>
          </a:p>
        </p:txBody>
      </p:sp>
      <p:sp>
        <p:nvSpPr>
          <p:cNvPr id="197" name="Google Shape;197;p16"/>
          <p:cNvSpPr/>
          <p:nvPr/>
        </p:nvSpPr>
        <p:spPr>
          <a:xfrm>
            <a:off x="5852160" y="3730752"/>
            <a:ext cx="2880360" cy="310896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16"/>
          <p:cNvSpPr/>
          <p:nvPr/>
        </p:nvSpPr>
        <p:spPr>
          <a:xfrm>
            <a:off x="5907024" y="3785615"/>
            <a:ext cx="621792" cy="201168"/>
          </a:xfrm>
          <a:prstGeom prst="roundRect">
            <a:avLst>
              <a:gd fmla="val 16667" name="adj"/>
            </a:avLst>
          </a:prstGeom>
          <a:solidFill>
            <a:srgbClr val="E67E2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91425" spcFirstLastPara="1" rIns="91425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MED</a:t>
            </a:r>
            <a:endParaRPr/>
          </a:p>
        </p:txBody>
      </p:sp>
      <p:sp>
        <p:nvSpPr>
          <p:cNvPr id="199" name="Google Shape;199;p16"/>
          <p:cNvSpPr txBox="1"/>
          <p:nvPr/>
        </p:nvSpPr>
        <p:spPr>
          <a:xfrm>
            <a:off x="6583680" y="373075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Bundle+</a:t>
            </a:r>
            <a:endParaRPr/>
          </a:p>
        </p:txBody>
      </p:sp>
      <p:sp>
        <p:nvSpPr>
          <p:cNvPr id="200" name="Google Shape;200;p16"/>
          <p:cNvSpPr txBox="1"/>
          <p:nvPr/>
        </p:nvSpPr>
        <p:spPr>
          <a:xfrm>
            <a:off x="7424927" y="3730752"/>
            <a:ext cx="128016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E93"/>
                </a:solidFill>
                <a:latin typeface="Calibri"/>
                <a:ea typeface="Calibri"/>
                <a:cs typeface="Calibri"/>
                <a:sym typeface="Calibri"/>
              </a:rPr>
              <a:t>Reserve +20% in budget</a:t>
            </a:r>
            <a:endParaRPr/>
          </a:p>
        </p:txBody>
      </p:sp>
      <p:sp>
        <p:nvSpPr>
          <p:cNvPr id="201" name="Google Shape;201;p16"/>
          <p:cNvSpPr/>
          <p:nvPr/>
        </p:nvSpPr>
        <p:spPr>
          <a:xfrm>
            <a:off x="5852160" y="4078224"/>
            <a:ext cx="2880360" cy="310896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16"/>
          <p:cNvSpPr/>
          <p:nvPr/>
        </p:nvSpPr>
        <p:spPr>
          <a:xfrm>
            <a:off x="5907024" y="4133087"/>
            <a:ext cx="621792" cy="201168"/>
          </a:xfrm>
          <a:prstGeom prst="roundRect">
            <a:avLst>
              <a:gd fmla="val 16667" name="adj"/>
            </a:avLst>
          </a:prstGeom>
          <a:solidFill>
            <a:srgbClr val="E67E2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91425" spcFirstLastPara="1" rIns="91425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MED</a:t>
            </a:r>
            <a:endParaRPr/>
          </a:p>
        </p:txBody>
      </p:sp>
      <p:sp>
        <p:nvSpPr>
          <p:cNvPr id="203" name="Google Shape;203;p16"/>
          <p:cNvSpPr txBox="1"/>
          <p:nvPr/>
        </p:nvSpPr>
        <p:spPr>
          <a:xfrm>
            <a:off x="6583680" y="4078224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Family</a:t>
            </a:r>
            <a:endParaRPr/>
          </a:p>
        </p:txBody>
      </p:sp>
      <p:sp>
        <p:nvSpPr>
          <p:cNvPr id="204" name="Google Shape;204;p16"/>
          <p:cNvSpPr txBox="1"/>
          <p:nvPr/>
        </p:nvSpPr>
        <p:spPr>
          <a:xfrm>
            <a:off x="7424927" y="4078224"/>
            <a:ext cx="128016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E93"/>
                </a:solidFill>
                <a:latin typeface="Calibri"/>
                <a:ea typeface="Calibri"/>
                <a:cs typeface="Calibri"/>
                <a:sym typeface="Calibri"/>
              </a:rPr>
              <a:t>Reserve +15% in budget</a:t>
            </a:r>
            <a:endParaRPr/>
          </a:p>
        </p:txBody>
      </p:sp>
      <p:sp>
        <p:nvSpPr>
          <p:cNvPr id="205" name="Google Shape;205;p16"/>
          <p:cNvSpPr/>
          <p:nvPr/>
        </p:nvSpPr>
        <p:spPr>
          <a:xfrm>
            <a:off x="5852160" y="4425696"/>
            <a:ext cx="2880360" cy="310896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16"/>
          <p:cNvSpPr/>
          <p:nvPr/>
        </p:nvSpPr>
        <p:spPr>
          <a:xfrm>
            <a:off x="5907024" y="4480559"/>
            <a:ext cx="621792" cy="201168"/>
          </a:xfrm>
          <a:prstGeom prst="roundRect">
            <a:avLst>
              <a:gd fmla="val 16667" name="adj"/>
            </a:avLst>
          </a:prstGeom>
          <a:solidFill>
            <a:srgbClr val="C0392B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91425" spcFirstLastPara="1" rIns="91425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LOW</a:t>
            </a:r>
            <a:endParaRPr/>
          </a:p>
        </p:txBody>
      </p:sp>
      <p:sp>
        <p:nvSpPr>
          <p:cNvPr id="207" name="Google Shape;207;p16"/>
          <p:cNvSpPr txBox="1"/>
          <p:nvPr/>
        </p:nvSpPr>
        <p:spPr>
          <a:xfrm>
            <a:off x="6583680" y="4425696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Kids</a:t>
            </a:r>
            <a:endParaRPr/>
          </a:p>
        </p:txBody>
      </p:sp>
      <p:sp>
        <p:nvSpPr>
          <p:cNvPr id="208" name="Google Shape;208;p16"/>
          <p:cNvSpPr txBox="1"/>
          <p:nvPr/>
        </p:nvSpPr>
        <p:spPr>
          <a:xfrm>
            <a:off x="7424927" y="4425696"/>
            <a:ext cx="128016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E93"/>
                </a:solidFill>
                <a:latin typeface="Calibri"/>
                <a:ea typeface="Calibri"/>
                <a:cs typeface="Calibri"/>
                <a:sym typeface="Calibri"/>
              </a:rPr>
              <a:t>Reserve +25% in budget</a:t>
            </a:r>
            <a:endParaRPr/>
          </a:p>
        </p:txBody>
      </p:sp>
      <p:sp>
        <p:nvSpPr>
          <p:cNvPr id="209" name="Google Shape;209;p16"/>
          <p:cNvSpPr/>
          <p:nvPr/>
        </p:nvSpPr>
        <p:spPr>
          <a:xfrm>
            <a:off x="5852160" y="4773168"/>
            <a:ext cx="2880360" cy="310896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16"/>
          <p:cNvSpPr/>
          <p:nvPr/>
        </p:nvSpPr>
        <p:spPr>
          <a:xfrm>
            <a:off x="5907024" y="4828031"/>
            <a:ext cx="621792" cy="201168"/>
          </a:xfrm>
          <a:prstGeom prst="roundRect">
            <a:avLst>
              <a:gd fmla="val 16667" name="adj"/>
            </a:avLst>
          </a:prstGeom>
          <a:solidFill>
            <a:srgbClr val="C0392B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91425" spcFirstLastPara="1" rIns="91425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HIGH</a:t>
            </a:r>
            <a:endParaRPr/>
          </a:p>
        </p:txBody>
      </p:sp>
      <p:sp>
        <p:nvSpPr>
          <p:cNvPr id="211" name="Google Shape;211;p16"/>
          <p:cNvSpPr txBox="1"/>
          <p:nvPr/>
        </p:nvSpPr>
        <p:spPr>
          <a:xfrm>
            <a:off x="6583680" y="4773168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Series</a:t>
            </a:r>
            <a:endParaRPr/>
          </a:p>
        </p:txBody>
      </p:sp>
      <p:sp>
        <p:nvSpPr>
          <p:cNvPr id="212" name="Google Shape;212;p16"/>
          <p:cNvSpPr txBox="1"/>
          <p:nvPr/>
        </p:nvSpPr>
        <p:spPr>
          <a:xfrm>
            <a:off x="7424927" y="4773168"/>
            <a:ext cx="128016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E93"/>
                </a:solidFill>
                <a:latin typeface="Calibri"/>
                <a:ea typeface="Calibri"/>
                <a:cs typeface="Calibri"/>
                <a:sym typeface="Calibri"/>
              </a:rPr>
              <a:t>DO NOT increase — risk</a:t>
            </a:r>
            <a:endParaRPr/>
          </a:p>
        </p:txBody>
      </p:sp>
      <p:sp>
        <p:nvSpPr>
          <p:cNvPr id="213" name="Google Shape;213;p16"/>
          <p:cNvSpPr/>
          <p:nvPr/>
        </p:nvSpPr>
        <p:spPr>
          <a:xfrm>
            <a:off x="411527" y="4517100"/>
            <a:ext cx="5303400" cy="548700"/>
          </a:xfrm>
          <a:prstGeom prst="roundRect">
            <a:avLst>
              <a:gd fmla="val 16667" name="adj"/>
            </a:avLst>
          </a:prstGeom>
          <a:solidFill>
            <a:srgbClr val="D6EAF8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16"/>
          <p:cNvSpPr txBox="1"/>
          <p:nvPr/>
        </p:nvSpPr>
        <p:spPr>
          <a:xfrm>
            <a:off x="497186" y="4553700"/>
            <a:ext cx="5132100" cy="4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💡  Kids has the widest CI range (±0.66) — plan with +25% safety margin in budget. Football (±0.50) is the most predictable inelastic channel. Series/Films: regardless of CI, do not raise price — elastic in any scenario.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7FA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17"/>
          <p:cNvSpPr/>
          <p:nvPr/>
        </p:nvSpPr>
        <p:spPr>
          <a:xfrm>
            <a:off x="411480" y="109728"/>
            <a:ext cx="1920240" cy="265176"/>
          </a:xfrm>
          <a:prstGeom prst="roundRect">
            <a:avLst>
              <a:gd fmla="val 16667" name="adj"/>
            </a:avLst>
          </a:prstGeom>
          <a:solidFill>
            <a:srgbClr val="00C2CB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91425" spcFirstLastPara="1" rIns="91425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03  WILLINGNESS-TO-PAY</a:t>
            </a:r>
            <a:endParaRPr/>
          </a:p>
        </p:txBody>
      </p:sp>
      <p:sp>
        <p:nvSpPr>
          <p:cNvPr id="220" name="Google Shape;220;p17"/>
          <p:cNvSpPr txBox="1"/>
          <p:nvPr/>
        </p:nvSpPr>
        <p:spPr>
          <a:xfrm>
            <a:off x="411480" y="475488"/>
            <a:ext cx="83210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What each segment is willing to pay — Van Westendorp</a:t>
            </a:r>
            <a:endParaRPr/>
          </a:p>
        </p:txBody>
      </p:sp>
      <p:sp>
        <p:nvSpPr>
          <p:cNvPr id="221" name="Google Shape;221;p17"/>
          <p:cNvSpPr txBox="1"/>
          <p:nvPr/>
        </p:nvSpPr>
        <p:spPr>
          <a:xfrm>
            <a:off x="411480" y="969264"/>
            <a:ext cx="83210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B7E93"/>
                </a:solidFill>
                <a:latin typeface="Calibri"/>
                <a:ea typeface="Calibri"/>
                <a:cs typeface="Calibri"/>
                <a:sym typeface="Calibri"/>
              </a:rPr>
              <a:t>OPP = (Q2+Q3)/2  ·  PMC = Q4 (minimum acceptable)  ·  PME = Q2 (maximum acceptable)</a:t>
            </a:r>
            <a:endParaRPr/>
          </a:p>
        </p:txBody>
      </p:sp>
      <p:pic>
        <p:nvPicPr>
          <p:cNvPr id="222" name="Google Shape;222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1480" y="1316736"/>
            <a:ext cx="5120640" cy="2834640"/>
          </a:xfrm>
          <a:prstGeom prst="rect">
            <a:avLst/>
          </a:prstGeom>
          <a:noFill/>
          <a:ln>
            <a:noFill/>
          </a:ln>
        </p:spPr>
      </p:pic>
      <p:sp>
        <p:nvSpPr>
          <p:cNvPr id="223" name="Google Shape;223;p17"/>
          <p:cNvSpPr txBox="1"/>
          <p:nvPr/>
        </p:nvSpPr>
        <p:spPr>
          <a:xfrm>
            <a:off x="5669280" y="1316736"/>
            <a:ext cx="30632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Delta OPP vs. Current Price</a:t>
            </a:r>
            <a:endParaRPr/>
          </a:p>
        </p:txBody>
      </p:sp>
      <p:sp>
        <p:nvSpPr>
          <p:cNvPr id="224" name="Google Shape;224;p17"/>
          <p:cNvSpPr/>
          <p:nvPr/>
        </p:nvSpPr>
        <p:spPr>
          <a:xfrm>
            <a:off x="5669280" y="1645920"/>
            <a:ext cx="3063240" cy="402336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17"/>
          <p:cNvSpPr txBox="1"/>
          <p:nvPr/>
        </p:nvSpPr>
        <p:spPr>
          <a:xfrm>
            <a:off x="5760720" y="1645920"/>
            <a:ext cx="14173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Football</a:t>
            </a:r>
            <a:endParaRPr/>
          </a:p>
        </p:txBody>
      </p:sp>
      <p:sp>
        <p:nvSpPr>
          <p:cNvPr id="226" name="Google Shape;226;p17"/>
          <p:cNvSpPr txBox="1"/>
          <p:nvPr/>
        </p:nvSpPr>
        <p:spPr>
          <a:xfrm>
            <a:off x="7196328" y="1645920"/>
            <a:ext cx="86868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1E8449"/>
                </a:solidFill>
                <a:latin typeface="Calibri"/>
                <a:ea typeface="Calibri"/>
                <a:cs typeface="Calibri"/>
                <a:sym typeface="Calibri"/>
              </a:rPr>
              <a:t>+R$25.1</a:t>
            </a:r>
            <a:endParaRPr/>
          </a:p>
        </p:txBody>
      </p:sp>
      <p:sp>
        <p:nvSpPr>
          <p:cNvPr id="227" name="Google Shape;227;p17"/>
          <p:cNvSpPr txBox="1"/>
          <p:nvPr/>
        </p:nvSpPr>
        <p:spPr>
          <a:xfrm>
            <a:off x="8083296" y="1645920"/>
            <a:ext cx="585216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E8449"/>
                </a:solidFill>
                <a:latin typeface="Calibri"/>
                <a:ea typeface="Calibri"/>
                <a:cs typeface="Calibri"/>
                <a:sym typeface="Calibri"/>
              </a:rPr>
              <a:t>+28%</a:t>
            </a:r>
            <a:endParaRPr/>
          </a:p>
        </p:txBody>
      </p:sp>
      <p:sp>
        <p:nvSpPr>
          <p:cNvPr id="228" name="Google Shape;228;p17"/>
          <p:cNvSpPr/>
          <p:nvPr/>
        </p:nvSpPr>
        <p:spPr>
          <a:xfrm>
            <a:off x="5669280" y="2103120"/>
            <a:ext cx="3063240" cy="402336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17"/>
          <p:cNvSpPr txBox="1"/>
          <p:nvPr/>
        </p:nvSpPr>
        <p:spPr>
          <a:xfrm>
            <a:off x="5760720" y="2103120"/>
            <a:ext cx="14173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MMA / Combat</a:t>
            </a:r>
            <a:endParaRPr/>
          </a:p>
        </p:txBody>
      </p:sp>
      <p:sp>
        <p:nvSpPr>
          <p:cNvPr id="230" name="Google Shape;230;p17"/>
          <p:cNvSpPr txBox="1"/>
          <p:nvPr/>
        </p:nvSpPr>
        <p:spPr>
          <a:xfrm>
            <a:off x="7196328" y="2103120"/>
            <a:ext cx="86868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1E8449"/>
                </a:solidFill>
                <a:latin typeface="Calibri"/>
                <a:ea typeface="Calibri"/>
                <a:cs typeface="Calibri"/>
                <a:sym typeface="Calibri"/>
              </a:rPr>
              <a:t>+R$17.1</a:t>
            </a:r>
            <a:endParaRPr/>
          </a:p>
        </p:txBody>
      </p:sp>
      <p:sp>
        <p:nvSpPr>
          <p:cNvPr id="231" name="Google Shape;231;p17"/>
          <p:cNvSpPr txBox="1"/>
          <p:nvPr/>
        </p:nvSpPr>
        <p:spPr>
          <a:xfrm>
            <a:off x="8083296" y="2103120"/>
            <a:ext cx="585216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E8449"/>
                </a:solidFill>
                <a:latin typeface="Calibri"/>
                <a:ea typeface="Calibri"/>
                <a:cs typeface="Calibri"/>
                <a:sym typeface="Calibri"/>
              </a:rPr>
              <a:t>+26%</a:t>
            </a:r>
            <a:endParaRPr/>
          </a:p>
        </p:txBody>
      </p:sp>
      <p:sp>
        <p:nvSpPr>
          <p:cNvPr id="232" name="Google Shape;232;p17"/>
          <p:cNvSpPr/>
          <p:nvPr/>
        </p:nvSpPr>
        <p:spPr>
          <a:xfrm>
            <a:off x="5669280" y="2560320"/>
            <a:ext cx="3063240" cy="402336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17"/>
          <p:cNvSpPr txBox="1"/>
          <p:nvPr/>
        </p:nvSpPr>
        <p:spPr>
          <a:xfrm>
            <a:off x="5760720" y="2560320"/>
            <a:ext cx="14173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Family</a:t>
            </a:r>
            <a:endParaRPr/>
          </a:p>
        </p:txBody>
      </p:sp>
      <p:sp>
        <p:nvSpPr>
          <p:cNvPr id="234" name="Google Shape;234;p17"/>
          <p:cNvSpPr txBox="1"/>
          <p:nvPr/>
        </p:nvSpPr>
        <p:spPr>
          <a:xfrm>
            <a:off x="7196328" y="2560320"/>
            <a:ext cx="86868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E67E22"/>
                </a:solidFill>
                <a:latin typeface="Calibri"/>
                <a:ea typeface="Calibri"/>
                <a:cs typeface="Calibri"/>
                <a:sym typeface="Calibri"/>
              </a:rPr>
              <a:t>+R$5.1</a:t>
            </a:r>
            <a:endParaRPr/>
          </a:p>
        </p:txBody>
      </p:sp>
      <p:sp>
        <p:nvSpPr>
          <p:cNvPr id="235" name="Google Shape;235;p17"/>
          <p:cNvSpPr txBox="1"/>
          <p:nvPr/>
        </p:nvSpPr>
        <p:spPr>
          <a:xfrm>
            <a:off x="8083296" y="2560320"/>
            <a:ext cx="585216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E67E22"/>
                </a:solidFill>
                <a:latin typeface="Calibri"/>
                <a:ea typeface="Calibri"/>
                <a:cs typeface="Calibri"/>
                <a:sym typeface="Calibri"/>
              </a:rPr>
              <a:t>+4%</a:t>
            </a:r>
            <a:endParaRPr/>
          </a:p>
        </p:txBody>
      </p:sp>
      <p:sp>
        <p:nvSpPr>
          <p:cNvPr id="236" name="Google Shape;236;p17"/>
          <p:cNvSpPr/>
          <p:nvPr/>
        </p:nvSpPr>
        <p:spPr>
          <a:xfrm>
            <a:off x="5669280" y="3017520"/>
            <a:ext cx="3063240" cy="402336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17"/>
          <p:cNvSpPr txBox="1"/>
          <p:nvPr/>
        </p:nvSpPr>
        <p:spPr>
          <a:xfrm>
            <a:off x="5760720" y="3017520"/>
            <a:ext cx="14173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Series/Films</a:t>
            </a:r>
            <a:endParaRPr/>
          </a:p>
        </p:txBody>
      </p:sp>
      <p:sp>
        <p:nvSpPr>
          <p:cNvPr id="238" name="Google Shape;238;p17"/>
          <p:cNvSpPr txBox="1"/>
          <p:nvPr/>
        </p:nvSpPr>
        <p:spPr>
          <a:xfrm>
            <a:off x="7196328" y="3017520"/>
            <a:ext cx="86868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E67E22"/>
                </a:solidFill>
                <a:latin typeface="Calibri"/>
                <a:ea typeface="Calibri"/>
                <a:cs typeface="Calibri"/>
                <a:sym typeface="Calibri"/>
              </a:rPr>
              <a:t>+R$2.1</a:t>
            </a:r>
            <a:endParaRPr/>
          </a:p>
        </p:txBody>
      </p:sp>
      <p:sp>
        <p:nvSpPr>
          <p:cNvPr id="239" name="Google Shape;239;p17"/>
          <p:cNvSpPr txBox="1"/>
          <p:nvPr/>
        </p:nvSpPr>
        <p:spPr>
          <a:xfrm>
            <a:off x="8083296" y="3017520"/>
            <a:ext cx="585216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E67E22"/>
                </a:solidFill>
                <a:latin typeface="Calibri"/>
                <a:ea typeface="Calibri"/>
                <a:cs typeface="Calibri"/>
                <a:sym typeface="Calibri"/>
              </a:rPr>
              <a:t>+4%</a:t>
            </a:r>
            <a:endParaRPr/>
          </a:p>
        </p:txBody>
      </p:sp>
      <p:sp>
        <p:nvSpPr>
          <p:cNvPr id="240" name="Google Shape;240;p17"/>
          <p:cNvSpPr/>
          <p:nvPr/>
        </p:nvSpPr>
        <p:spPr>
          <a:xfrm>
            <a:off x="5669280" y="3474720"/>
            <a:ext cx="3063240" cy="402336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17"/>
          <p:cNvSpPr txBox="1"/>
          <p:nvPr/>
        </p:nvSpPr>
        <p:spPr>
          <a:xfrm>
            <a:off x="5760720" y="3474720"/>
            <a:ext cx="14173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Kids</a:t>
            </a:r>
            <a:endParaRPr/>
          </a:p>
        </p:txBody>
      </p:sp>
      <p:sp>
        <p:nvSpPr>
          <p:cNvPr id="242" name="Google Shape;242;p17"/>
          <p:cNvSpPr txBox="1"/>
          <p:nvPr/>
        </p:nvSpPr>
        <p:spPr>
          <a:xfrm>
            <a:off x="7196328" y="3474720"/>
            <a:ext cx="86868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1E8449"/>
                </a:solidFill>
                <a:latin typeface="Calibri"/>
                <a:ea typeface="Calibri"/>
                <a:cs typeface="Calibri"/>
                <a:sym typeface="Calibri"/>
              </a:rPr>
              <a:t>+R$4.6</a:t>
            </a:r>
            <a:endParaRPr/>
          </a:p>
        </p:txBody>
      </p:sp>
      <p:sp>
        <p:nvSpPr>
          <p:cNvPr id="243" name="Google Shape;243;p17"/>
          <p:cNvSpPr txBox="1"/>
          <p:nvPr/>
        </p:nvSpPr>
        <p:spPr>
          <a:xfrm>
            <a:off x="8083296" y="3474720"/>
            <a:ext cx="585216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E8449"/>
                </a:solidFill>
                <a:latin typeface="Calibri"/>
                <a:ea typeface="Calibri"/>
                <a:cs typeface="Calibri"/>
                <a:sym typeface="Calibri"/>
              </a:rPr>
              <a:t>+12%</a:t>
            </a:r>
            <a:endParaRPr/>
          </a:p>
        </p:txBody>
      </p:sp>
      <p:sp>
        <p:nvSpPr>
          <p:cNvPr id="244" name="Google Shape;244;p17"/>
          <p:cNvSpPr/>
          <p:nvPr/>
        </p:nvSpPr>
        <p:spPr>
          <a:xfrm>
            <a:off x="5669280" y="3931920"/>
            <a:ext cx="3063240" cy="402336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17"/>
          <p:cNvSpPr txBox="1"/>
          <p:nvPr/>
        </p:nvSpPr>
        <p:spPr>
          <a:xfrm>
            <a:off x="5760720" y="3931920"/>
            <a:ext cx="14173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Bundle Plus</a:t>
            </a:r>
            <a:endParaRPr/>
          </a:p>
        </p:txBody>
      </p:sp>
      <p:sp>
        <p:nvSpPr>
          <p:cNvPr id="246" name="Google Shape;246;p17"/>
          <p:cNvSpPr txBox="1"/>
          <p:nvPr/>
        </p:nvSpPr>
        <p:spPr>
          <a:xfrm>
            <a:off x="7196328" y="3931920"/>
            <a:ext cx="86868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E67E22"/>
                </a:solidFill>
                <a:latin typeface="Calibri"/>
                <a:ea typeface="Calibri"/>
                <a:cs typeface="Calibri"/>
                <a:sym typeface="Calibri"/>
              </a:rPr>
              <a:t>+R$5.1</a:t>
            </a:r>
            <a:endParaRPr/>
          </a:p>
        </p:txBody>
      </p:sp>
      <p:sp>
        <p:nvSpPr>
          <p:cNvPr id="247" name="Google Shape;247;p17"/>
          <p:cNvSpPr txBox="1"/>
          <p:nvPr/>
        </p:nvSpPr>
        <p:spPr>
          <a:xfrm>
            <a:off x="8083296" y="3931920"/>
            <a:ext cx="585216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E67E22"/>
                </a:solidFill>
                <a:latin typeface="Calibri"/>
                <a:ea typeface="Calibri"/>
                <a:cs typeface="Calibri"/>
                <a:sym typeface="Calibri"/>
              </a:rPr>
              <a:t>+3%</a:t>
            </a:r>
            <a:endParaRPr/>
          </a:p>
        </p:txBody>
      </p:sp>
      <p:sp>
        <p:nvSpPr>
          <p:cNvPr id="248" name="Google Shape;248;p17"/>
          <p:cNvSpPr/>
          <p:nvPr/>
        </p:nvSpPr>
        <p:spPr>
          <a:xfrm>
            <a:off x="411480" y="4489693"/>
            <a:ext cx="8321100" cy="548700"/>
          </a:xfrm>
          <a:prstGeom prst="roundRect">
            <a:avLst>
              <a:gd fmla="val 16667" name="adj"/>
            </a:avLst>
          </a:prstGeom>
          <a:solidFill>
            <a:srgbClr val="D6EAF8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17"/>
          <p:cNvSpPr txBox="1"/>
          <p:nvPr/>
        </p:nvSpPr>
        <p:spPr>
          <a:xfrm>
            <a:off x="502920" y="4489694"/>
            <a:ext cx="8138100" cy="4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💡  Football and MMA have the largest uncaptured WTP gap: OPP 26-28% above current price. The survey shows fans would pay R$115/month for Football — current: R$89.90. That is R$25/subscriber/month in revenue left on the table.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7FA"/>
        </a:solidFill>
      </p:bgPr>
    </p:bg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18"/>
          <p:cNvSpPr/>
          <p:nvPr/>
        </p:nvSpPr>
        <p:spPr>
          <a:xfrm>
            <a:off x="411480" y="109728"/>
            <a:ext cx="1920240" cy="265176"/>
          </a:xfrm>
          <a:prstGeom prst="roundRect">
            <a:avLst>
              <a:gd fmla="val 16667" name="adj"/>
            </a:avLst>
          </a:prstGeom>
          <a:solidFill>
            <a:srgbClr val="00C2CB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91425" spcFirstLastPara="1" rIns="91425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04  CANNIBALIZATION</a:t>
            </a:r>
            <a:endParaRPr/>
          </a:p>
        </p:txBody>
      </p:sp>
      <p:sp>
        <p:nvSpPr>
          <p:cNvPr id="255" name="Google Shape;255;p18"/>
          <p:cNvSpPr txBox="1"/>
          <p:nvPr/>
        </p:nvSpPr>
        <p:spPr>
          <a:xfrm>
            <a:off x="411480" y="475488"/>
            <a:ext cx="83210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Raising Football price affects other packages</a:t>
            </a:r>
            <a:endParaRPr/>
          </a:p>
        </p:txBody>
      </p:sp>
      <p:sp>
        <p:nvSpPr>
          <p:cNvPr id="256" name="Google Shape;256;p18"/>
          <p:cNvSpPr txBox="1"/>
          <p:nvPr/>
        </p:nvSpPr>
        <p:spPr>
          <a:xfrm>
            <a:off x="411480" y="932688"/>
            <a:ext cx="83210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B7E93"/>
                </a:solidFill>
                <a:latin typeface="Calibri"/>
                <a:ea typeface="Calibri"/>
                <a:cs typeface="Calibri"/>
                <a:sym typeface="Calibri"/>
              </a:rPr>
              <a:t>Cross-price elasticity ε_ij: % change in demand of package i when the price of package j rises 1%</a:t>
            </a:r>
            <a:endParaRPr/>
          </a:p>
        </p:txBody>
      </p:sp>
      <p:sp>
        <p:nvSpPr>
          <p:cNvPr id="257" name="Google Shape;257;p18"/>
          <p:cNvSpPr/>
          <p:nvPr/>
        </p:nvSpPr>
        <p:spPr>
          <a:xfrm>
            <a:off x="1417320" y="914399"/>
            <a:ext cx="987552" cy="347472"/>
          </a:xfrm>
          <a:prstGeom prst="roundRect">
            <a:avLst>
              <a:gd fmla="val 16667" name="adj"/>
            </a:avLst>
          </a:prstGeom>
          <a:solidFill>
            <a:srgbClr val="0D1B2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18"/>
          <p:cNvSpPr txBox="1"/>
          <p:nvPr/>
        </p:nvSpPr>
        <p:spPr>
          <a:xfrm>
            <a:off x="1417320" y="914399"/>
            <a:ext cx="98755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Football</a:t>
            </a:r>
            <a:endParaRPr/>
          </a:p>
        </p:txBody>
      </p:sp>
      <p:sp>
        <p:nvSpPr>
          <p:cNvPr id="259" name="Google Shape;259;p18"/>
          <p:cNvSpPr/>
          <p:nvPr/>
        </p:nvSpPr>
        <p:spPr>
          <a:xfrm>
            <a:off x="2404872" y="914399"/>
            <a:ext cx="987552" cy="347472"/>
          </a:xfrm>
          <a:prstGeom prst="roundRect">
            <a:avLst>
              <a:gd fmla="val 16667" name="adj"/>
            </a:avLst>
          </a:prstGeom>
          <a:solidFill>
            <a:srgbClr val="0D1B2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18"/>
          <p:cNvSpPr txBox="1"/>
          <p:nvPr/>
        </p:nvSpPr>
        <p:spPr>
          <a:xfrm>
            <a:off x="2404872" y="914399"/>
            <a:ext cx="98755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MMA</a:t>
            </a:r>
            <a:endParaRPr/>
          </a:p>
        </p:txBody>
      </p:sp>
      <p:sp>
        <p:nvSpPr>
          <p:cNvPr id="261" name="Google Shape;261;p18"/>
          <p:cNvSpPr/>
          <p:nvPr/>
        </p:nvSpPr>
        <p:spPr>
          <a:xfrm>
            <a:off x="3392424" y="914399"/>
            <a:ext cx="987552" cy="347472"/>
          </a:xfrm>
          <a:prstGeom prst="roundRect">
            <a:avLst>
              <a:gd fmla="val 16667" name="adj"/>
            </a:avLst>
          </a:prstGeom>
          <a:solidFill>
            <a:srgbClr val="0D1B2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18"/>
          <p:cNvSpPr txBox="1"/>
          <p:nvPr/>
        </p:nvSpPr>
        <p:spPr>
          <a:xfrm>
            <a:off x="3392424" y="914399"/>
            <a:ext cx="98755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Family</a:t>
            </a:r>
            <a:endParaRPr/>
          </a:p>
        </p:txBody>
      </p:sp>
      <p:sp>
        <p:nvSpPr>
          <p:cNvPr id="263" name="Google Shape;263;p18"/>
          <p:cNvSpPr/>
          <p:nvPr/>
        </p:nvSpPr>
        <p:spPr>
          <a:xfrm>
            <a:off x="4379976" y="914399"/>
            <a:ext cx="987552" cy="347472"/>
          </a:xfrm>
          <a:prstGeom prst="roundRect">
            <a:avLst>
              <a:gd fmla="val 16667" name="adj"/>
            </a:avLst>
          </a:prstGeom>
          <a:solidFill>
            <a:srgbClr val="0D1B2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18"/>
          <p:cNvSpPr txBox="1"/>
          <p:nvPr/>
        </p:nvSpPr>
        <p:spPr>
          <a:xfrm>
            <a:off x="4379976" y="914399"/>
            <a:ext cx="98755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Series</a:t>
            </a:r>
            <a:endParaRPr/>
          </a:p>
        </p:txBody>
      </p:sp>
      <p:sp>
        <p:nvSpPr>
          <p:cNvPr id="265" name="Google Shape;265;p18"/>
          <p:cNvSpPr/>
          <p:nvPr/>
        </p:nvSpPr>
        <p:spPr>
          <a:xfrm>
            <a:off x="5367528" y="914399"/>
            <a:ext cx="987552" cy="347472"/>
          </a:xfrm>
          <a:prstGeom prst="roundRect">
            <a:avLst>
              <a:gd fmla="val 16667" name="adj"/>
            </a:avLst>
          </a:prstGeom>
          <a:solidFill>
            <a:srgbClr val="0D1B2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18"/>
          <p:cNvSpPr txBox="1"/>
          <p:nvPr/>
        </p:nvSpPr>
        <p:spPr>
          <a:xfrm>
            <a:off x="5367528" y="914399"/>
            <a:ext cx="98755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Kids</a:t>
            </a:r>
            <a:endParaRPr/>
          </a:p>
        </p:txBody>
      </p:sp>
      <p:sp>
        <p:nvSpPr>
          <p:cNvPr id="267" name="Google Shape;267;p18"/>
          <p:cNvSpPr/>
          <p:nvPr/>
        </p:nvSpPr>
        <p:spPr>
          <a:xfrm>
            <a:off x="6355080" y="914399"/>
            <a:ext cx="987552" cy="347472"/>
          </a:xfrm>
          <a:prstGeom prst="roundRect">
            <a:avLst>
              <a:gd fmla="val 16667" name="adj"/>
            </a:avLst>
          </a:prstGeom>
          <a:solidFill>
            <a:srgbClr val="0D1B2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18"/>
          <p:cNvSpPr txBox="1"/>
          <p:nvPr/>
        </p:nvSpPr>
        <p:spPr>
          <a:xfrm>
            <a:off x="6355080" y="914399"/>
            <a:ext cx="98755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Bundle+</a:t>
            </a:r>
            <a:endParaRPr/>
          </a:p>
        </p:txBody>
      </p:sp>
      <p:sp>
        <p:nvSpPr>
          <p:cNvPr id="269" name="Google Shape;269;p18"/>
          <p:cNvSpPr/>
          <p:nvPr/>
        </p:nvSpPr>
        <p:spPr>
          <a:xfrm>
            <a:off x="411480" y="1280160"/>
            <a:ext cx="969264" cy="402336"/>
          </a:xfrm>
          <a:prstGeom prst="roundRect">
            <a:avLst>
              <a:gd fmla="val 16667" name="adj"/>
            </a:avLst>
          </a:prstGeom>
          <a:solidFill>
            <a:srgbClr val="0D1B2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18"/>
          <p:cNvSpPr txBox="1"/>
          <p:nvPr/>
        </p:nvSpPr>
        <p:spPr>
          <a:xfrm>
            <a:off x="411480" y="1280160"/>
            <a:ext cx="969264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Football</a:t>
            </a:r>
            <a:endParaRPr/>
          </a:p>
        </p:txBody>
      </p:sp>
      <p:sp>
        <p:nvSpPr>
          <p:cNvPr id="271" name="Google Shape;271;p18"/>
          <p:cNvSpPr/>
          <p:nvPr/>
        </p:nvSpPr>
        <p:spPr>
          <a:xfrm>
            <a:off x="1417320" y="1280160"/>
            <a:ext cx="987552" cy="402336"/>
          </a:xfrm>
          <a:prstGeom prst="roundRect">
            <a:avLst>
              <a:gd fmla="val 16667" name="adj"/>
            </a:avLst>
          </a:prstGeom>
          <a:solidFill>
            <a:srgbClr val="BDC3C7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18"/>
          <p:cNvSpPr txBox="1"/>
          <p:nvPr/>
        </p:nvSpPr>
        <p:spPr>
          <a:xfrm>
            <a:off x="1417320" y="1280160"/>
            <a:ext cx="987552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B7E93"/>
                </a:solidFill>
                <a:latin typeface="Calibri"/>
                <a:ea typeface="Calibri"/>
                <a:cs typeface="Calibri"/>
                <a:sym typeface="Calibri"/>
              </a:rPr>
              <a:t>—</a:t>
            </a:r>
            <a:endParaRPr/>
          </a:p>
        </p:txBody>
      </p:sp>
      <p:sp>
        <p:nvSpPr>
          <p:cNvPr id="273" name="Google Shape;273;p18"/>
          <p:cNvSpPr/>
          <p:nvPr/>
        </p:nvSpPr>
        <p:spPr>
          <a:xfrm>
            <a:off x="2404872" y="1280160"/>
            <a:ext cx="987552" cy="402336"/>
          </a:xfrm>
          <a:prstGeom prst="roundRect">
            <a:avLst>
              <a:gd fmla="val 16667" name="adj"/>
            </a:avLst>
          </a:prstGeom>
          <a:solidFill>
            <a:srgbClr val="FEF3E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18"/>
          <p:cNvSpPr txBox="1"/>
          <p:nvPr/>
        </p:nvSpPr>
        <p:spPr>
          <a:xfrm>
            <a:off x="2404872" y="1280160"/>
            <a:ext cx="987552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E67E22"/>
                </a:solidFill>
                <a:latin typeface="Calibri"/>
                <a:ea typeface="Calibri"/>
                <a:cs typeface="Calibri"/>
                <a:sym typeface="Calibri"/>
              </a:rPr>
              <a:t>0.12</a:t>
            </a:r>
            <a:endParaRPr/>
          </a:p>
        </p:txBody>
      </p:sp>
      <p:sp>
        <p:nvSpPr>
          <p:cNvPr id="275" name="Google Shape;275;p18"/>
          <p:cNvSpPr/>
          <p:nvPr/>
        </p:nvSpPr>
        <p:spPr>
          <a:xfrm>
            <a:off x="3392424" y="1280160"/>
            <a:ext cx="987552" cy="402336"/>
          </a:xfrm>
          <a:prstGeom prst="roundRect">
            <a:avLst>
              <a:gd fmla="val 16667" name="adj"/>
            </a:avLst>
          </a:prstGeom>
          <a:solidFill>
            <a:srgbClr val="F4F7F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18"/>
          <p:cNvSpPr txBox="1"/>
          <p:nvPr/>
        </p:nvSpPr>
        <p:spPr>
          <a:xfrm>
            <a:off x="3392424" y="1280160"/>
            <a:ext cx="987552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B7E93"/>
                </a:solidFill>
                <a:latin typeface="Calibri"/>
                <a:ea typeface="Calibri"/>
                <a:cs typeface="Calibri"/>
                <a:sym typeface="Calibri"/>
              </a:rPr>
              <a:t>-0.05</a:t>
            </a:r>
            <a:endParaRPr/>
          </a:p>
        </p:txBody>
      </p:sp>
      <p:sp>
        <p:nvSpPr>
          <p:cNvPr id="277" name="Google Shape;277;p18"/>
          <p:cNvSpPr/>
          <p:nvPr/>
        </p:nvSpPr>
        <p:spPr>
          <a:xfrm>
            <a:off x="4379976" y="1280160"/>
            <a:ext cx="987552" cy="402336"/>
          </a:xfrm>
          <a:prstGeom prst="roundRect">
            <a:avLst>
              <a:gd fmla="val 16667" name="adj"/>
            </a:avLst>
          </a:prstGeom>
          <a:solidFill>
            <a:srgbClr val="F4F7F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18"/>
          <p:cNvSpPr txBox="1"/>
          <p:nvPr/>
        </p:nvSpPr>
        <p:spPr>
          <a:xfrm>
            <a:off x="4379976" y="1280160"/>
            <a:ext cx="987552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B7E93"/>
                </a:solidFill>
                <a:latin typeface="Calibri"/>
                <a:ea typeface="Calibri"/>
                <a:cs typeface="Calibri"/>
                <a:sym typeface="Calibri"/>
              </a:rPr>
              <a:t>-0.03</a:t>
            </a:r>
            <a:endParaRPr/>
          </a:p>
        </p:txBody>
      </p:sp>
      <p:sp>
        <p:nvSpPr>
          <p:cNvPr id="279" name="Google Shape;279;p18"/>
          <p:cNvSpPr/>
          <p:nvPr/>
        </p:nvSpPr>
        <p:spPr>
          <a:xfrm>
            <a:off x="5367528" y="1280160"/>
            <a:ext cx="987552" cy="402336"/>
          </a:xfrm>
          <a:prstGeom prst="roundRect">
            <a:avLst>
              <a:gd fmla="val 16667" name="adj"/>
            </a:avLst>
          </a:prstGeom>
          <a:solidFill>
            <a:srgbClr val="F4F7F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18"/>
          <p:cNvSpPr txBox="1"/>
          <p:nvPr/>
        </p:nvSpPr>
        <p:spPr>
          <a:xfrm>
            <a:off x="5367528" y="1280160"/>
            <a:ext cx="987552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B7E93"/>
                </a:solidFill>
                <a:latin typeface="Calibri"/>
                <a:ea typeface="Calibri"/>
                <a:cs typeface="Calibri"/>
                <a:sym typeface="Calibri"/>
              </a:rPr>
              <a:t>-0.02</a:t>
            </a:r>
            <a:endParaRPr/>
          </a:p>
        </p:txBody>
      </p:sp>
      <p:sp>
        <p:nvSpPr>
          <p:cNvPr id="281" name="Google Shape;281;p18"/>
          <p:cNvSpPr/>
          <p:nvPr/>
        </p:nvSpPr>
        <p:spPr>
          <a:xfrm>
            <a:off x="6355080" y="1280160"/>
            <a:ext cx="987552" cy="402336"/>
          </a:xfrm>
          <a:prstGeom prst="roundRect">
            <a:avLst>
              <a:gd fmla="val 16667" name="adj"/>
            </a:avLst>
          </a:prstGeom>
          <a:solidFill>
            <a:srgbClr val="E9F7E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18"/>
          <p:cNvSpPr txBox="1"/>
          <p:nvPr/>
        </p:nvSpPr>
        <p:spPr>
          <a:xfrm>
            <a:off x="6355080" y="1280160"/>
            <a:ext cx="987552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E8449"/>
                </a:solidFill>
                <a:latin typeface="Calibri"/>
                <a:ea typeface="Calibri"/>
                <a:cs typeface="Calibri"/>
                <a:sym typeface="Calibri"/>
              </a:rPr>
              <a:t>-0.18</a:t>
            </a:r>
            <a:endParaRPr/>
          </a:p>
        </p:txBody>
      </p:sp>
      <p:sp>
        <p:nvSpPr>
          <p:cNvPr id="283" name="Google Shape;283;p18"/>
          <p:cNvSpPr/>
          <p:nvPr/>
        </p:nvSpPr>
        <p:spPr>
          <a:xfrm>
            <a:off x="411480" y="1682495"/>
            <a:ext cx="969264" cy="402336"/>
          </a:xfrm>
          <a:prstGeom prst="roundRect">
            <a:avLst>
              <a:gd fmla="val 16667" name="adj"/>
            </a:avLst>
          </a:prstGeom>
          <a:solidFill>
            <a:srgbClr val="0D1B2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18"/>
          <p:cNvSpPr txBox="1"/>
          <p:nvPr/>
        </p:nvSpPr>
        <p:spPr>
          <a:xfrm>
            <a:off x="411480" y="1682495"/>
            <a:ext cx="969264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MMA</a:t>
            </a:r>
            <a:endParaRPr/>
          </a:p>
        </p:txBody>
      </p:sp>
      <p:sp>
        <p:nvSpPr>
          <p:cNvPr id="285" name="Google Shape;285;p18"/>
          <p:cNvSpPr/>
          <p:nvPr/>
        </p:nvSpPr>
        <p:spPr>
          <a:xfrm>
            <a:off x="1417320" y="1682495"/>
            <a:ext cx="987552" cy="402336"/>
          </a:xfrm>
          <a:prstGeom prst="roundRect">
            <a:avLst>
              <a:gd fmla="val 16667" name="adj"/>
            </a:avLst>
          </a:prstGeom>
          <a:solidFill>
            <a:srgbClr val="FEF3E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18"/>
          <p:cNvSpPr txBox="1"/>
          <p:nvPr/>
        </p:nvSpPr>
        <p:spPr>
          <a:xfrm>
            <a:off x="1417320" y="1682495"/>
            <a:ext cx="987552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E67E22"/>
                </a:solidFill>
                <a:latin typeface="Calibri"/>
                <a:ea typeface="Calibri"/>
                <a:cs typeface="Calibri"/>
                <a:sym typeface="Calibri"/>
              </a:rPr>
              <a:t>0.10</a:t>
            </a:r>
            <a:endParaRPr/>
          </a:p>
        </p:txBody>
      </p:sp>
      <p:sp>
        <p:nvSpPr>
          <p:cNvPr id="287" name="Google Shape;287;p18"/>
          <p:cNvSpPr/>
          <p:nvPr/>
        </p:nvSpPr>
        <p:spPr>
          <a:xfrm>
            <a:off x="2404872" y="1682495"/>
            <a:ext cx="987552" cy="402336"/>
          </a:xfrm>
          <a:prstGeom prst="roundRect">
            <a:avLst>
              <a:gd fmla="val 16667" name="adj"/>
            </a:avLst>
          </a:prstGeom>
          <a:solidFill>
            <a:srgbClr val="BDC3C7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18"/>
          <p:cNvSpPr txBox="1"/>
          <p:nvPr/>
        </p:nvSpPr>
        <p:spPr>
          <a:xfrm>
            <a:off x="2404872" y="1682495"/>
            <a:ext cx="987552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B7E93"/>
                </a:solidFill>
                <a:latin typeface="Calibri"/>
                <a:ea typeface="Calibri"/>
                <a:cs typeface="Calibri"/>
                <a:sym typeface="Calibri"/>
              </a:rPr>
              <a:t>—</a:t>
            </a:r>
            <a:endParaRPr/>
          </a:p>
        </p:txBody>
      </p:sp>
      <p:sp>
        <p:nvSpPr>
          <p:cNvPr id="289" name="Google Shape;289;p18"/>
          <p:cNvSpPr/>
          <p:nvPr/>
        </p:nvSpPr>
        <p:spPr>
          <a:xfrm>
            <a:off x="3392424" y="1682495"/>
            <a:ext cx="987552" cy="402336"/>
          </a:xfrm>
          <a:prstGeom prst="roundRect">
            <a:avLst>
              <a:gd fmla="val 16667" name="adj"/>
            </a:avLst>
          </a:prstGeom>
          <a:solidFill>
            <a:srgbClr val="F4F7F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18"/>
          <p:cNvSpPr txBox="1"/>
          <p:nvPr/>
        </p:nvSpPr>
        <p:spPr>
          <a:xfrm>
            <a:off x="3392424" y="1682495"/>
            <a:ext cx="987552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B7E93"/>
                </a:solidFill>
                <a:latin typeface="Calibri"/>
                <a:ea typeface="Calibri"/>
                <a:cs typeface="Calibri"/>
                <a:sym typeface="Calibri"/>
              </a:rPr>
              <a:t>-0.03</a:t>
            </a:r>
            <a:endParaRPr/>
          </a:p>
        </p:txBody>
      </p:sp>
      <p:sp>
        <p:nvSpPr>
          <p:cNvPr id="291" name="Google Shape;291;p18"/>
          <p:cNvSpPr/>
          <p:nvPr/>
        </p:nvSpPr>
        <p:spPr>
          <a:xfrm>
            <a:off x="4379976" y="1682495"/>
            <a:ext cx="987552" cy="402336"/>
          </a:xfrm>
          <a:prstGeom prst="roundRect">
            <a:avLst>
              <a:gd fmla="val 16667" name="adj"/>
            </a:avLst>
          </a:prstGeom>
          <a:solidFill>
            <a:srgbClr val="F4F7F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18"/>
          <p:cNvSpPr txBox="1"/>
          <p:nvPr/>
        </p:nvSpPr>
        <p:spPr>
          <a:xfrm>
            <a:off x="4379976" y="1682495"/>
            <a:ext cx="987552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B7E93"/>
                </a:solidFill>
                <a:latin typeface="Calibri"/>
                <a:ea typeface="Calibri"/>
                <a:cs typeface="Calibri"/>
                <a:sym typeface="Calibri"/>
              </a:rPr>
              <a:t>-0.02</a:t>
            </a:r>
            <a:endParaRPr/>
          </a:p>
        </p:txBody>
      </p:sp>
      <p:sp>
        <p:nvSpPr>
          <p:cNvPr id="293" name="Google Shape;293;p18"/>
          <p:cNvSpPr/>
          <p:nvPr/>
        </p:nvSpPr>
        <p:spPr>
          <a:xfrm>
            <a:off x="5367528" y="1682495"/>
            <a:ext cx="987552" cy="402336"/>
          </a:xfrm>
          <a:prstGeom prst="roundRect">
            <a:avLst>
              <a:gd fmla="val 16667" name="adj"/>
            </a:avLst>
          </a:prstGeom>
          <a:solidFill>
            <a:srgbClr val="F4F7F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18"/>
          <p:cNvSpPr txBox="1"/>
          <p:nvPr/>
        </p:nvSpPr>
        <p:spPr>
          <a:xfrm>
            <a:off x="5367528" y="1682495"/>
            <a:ext cx="987552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B7E93"/>
                </a:solidFill>
                <a:latin typeface="Calibri"/>
                <a:ea typeface="Calibri"/>
                <a:cs typeface="Calibri"/>
                <a:sym typeface="Calibri"/>
              </a:rPr>
              <a:t>-0.01</a:t>
            </a:r>
            <a:endParaRPr/>
          </a:p>
        </p:txBody>
      </p:sp>
      <p:sp>
        <p:nvSpPr>
          <p:cNvPr id="295" name="Google Shape;295;p18"/>
          <p:cNvSpPr/>
          <p:nvPr/>
        </p:nvSpPr>
        <p:spPr>
          <a:xfrm>
            <a:off x="6355080" y="1682495"/>
            <a:ext cx="987552" cy="402336"/>
          </a:xfrm>
          <a:prstGeom prst="roundRect">
            <a:avLst>
              <a:gd fmla="val 16667" name="adj"/>
            </a:avLst>
          </a:prstGeom>
          <a:solidFill>
            <a:srgbClr val="E9F7E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18"/>
          <p:cNvSpPr txBox="1"/>
          <p:nvPr/>
        </p:nvSpPr>
        <p:spPr>
          <a:xfrm>
            <a:off x="6355080" y="1682495"/>
            <a:ext cx="987552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E8449"/>
                </a:solidFill>
                <a:latin typeface="Calibri"/>
                <a:ea typeface="Calibri"/>
                <a:cs typeface="Calibri"/>
                <a:sym typeface="Calibri"/>
              </a:rPr>
              <a:t>-0.15</a:t>
            </a:r>
            <a:endParaRPr/>
          </a:p>
        </p:txBody>
      </p:sp>
      <p:sp>
        <p:nvSpPr>
          <p:cNvPr id="297" name="Google Shape;297;p18"/>
          <p:cNvSpPr/>
          <p:nvPr/>
        </p:nvSpPr>
        <p:spPr>
          <a:xfrm>
            <a:off x="411480" y="2084831"/>
            <a:ext cx="969264" cy="402336"/>
          </a:xfrm>
          <a:prstGeom prst="roundRect">
            <a:avLst>
              <a:gd fmla="val 16667" name="adj"/>
            </a:avLst>
          </a:prstGeom>
          <a:solidFill>
            <a:srgbClr val="0D1B2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18"/>
          <p:cNvSpPr txBox="1"/>
          <p:nvPr/>
        </p:nvSpPr>
        <p:spPr>
          <a:xfrm>
            <a:off x="411480" y="2084831"/>
            <a:ext cx="969264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Family</a:t>
            </a:r>
            <a:endParaRPr/>
          </a:p>
        </p:txBody>
      </p:sp>
      <p:sp>
        <p:nvSpPr>
          <p:cNvPr id="299" name="Google Shape;299;p18"/>
          <p:cNvSpPr/>
          <p:nvPr/>
        </p:nvSpPr>
        <p:spPr>
          <a:xfrm>
            <a:off x="1417320" y="2084831"/>
            <a:ext cx="987552" cy="402336"/>
          </a:xfrm>
          <a:prstGeom prst="roundRect">
            <a:avLst>
              <a:gd fmla="val 16667" name="adj"/>
            </a:avLst>
          </a:prstGeom>
          <a:solidFill>
            <a:srgbClr val="F4F7F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18"/>
          <p:cNvSpPr txBox="1"/>
          <p:nvPr/>
        </p:nvSpPr>
        <p:spPr>
          <a:xfrm>
            <a:off x="1417320" y="2084831"/>
            <a:ext cx="987552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B7E93"/>
                </a:solidFill>
                <a:latin typeface="Calibri"/>
                <a:ea typeface="Calibri"/>
                <a:cs typeface="Calibri"/>
                <a:sym typeface="Calibri"/>
              </a:rPr>
              <a:t>-0.05</a:t>
            </a:r>
            <a:endParaRPr/>
          </a:p>
        </p:txBody>
      </p:sp>
      <p:sp>
        <p:nvSpPr>
          <p:cNvPr id="301" name="Google Shape;301;p18"/>
          <p:cNvSpPr/>
          <p:nvPr/>
        </p:nvSpPr>
        <p:spPr>
          <a:xfrm>
            <a:off x="2404872" y="2084831"/>
            <a:ext cx="987552" cy="402336"/>
          </a:xfrm>
          <a:prstGeom prst="roundRect">
            <a:avLst>
              <a:gd fmla="val 16667" name="adj"/>
            </a:avLst>
          </a:prstGeom>
          <a:solidFill>
            <a:srgbClr val="F4F7F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18"/>
          <p:cNvSpPr txBox="1"/>
          <p:nvPr/>
        </p:nvSpPr>
        <p:spPr>
          <a:xfrm>
            <a:off x="2404872" y="2084831"/>
            <a:ext cx="987552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B7E93"/>
                </a:solidFill>
                <a:latin typeface="Calibri"/>
                <a:ea typeface="Calibri"/>
                <a:cs typeface="Calibri"/>
                <a:sym typeface="Calibri"/>
              </a:rPr>
              <a:t>-0.03</a:t>
            </a:r>
            <a:endParaRPr/>
          </a:p>
        </p:txBody>
      </p:sp>
      <p:sp>
        <p:nvSpPr>
          <p:cNvPr id="303" name="Google Shape;303;p18"/>
          <p:cNvSpPr/>
          <p:nvPr/>
        </p:nvSpPr>
        <p:spPr>
          <a:xfrm>
            <a:off x="3392424" y="2084831"/>
            <a:ext cx="987552" cy="402336"/>
          </a:xfrm>
          <a:prstGeom prst="roundRect">
            <a:avLst>
              <a:gd fmla="val 16667" name="adj"/>
            </a:avLst>
          </a:prstGeom>
          <a:solidFill>
            <a:srgbClr val="BDC3C7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18"/>
          <p:cNvSpPr txBox="1"/>
          <p:nvPr/>
        </p:nvSpPr>
        <p:spPr>
          <a:xfrm>
            <a:off x="3392424" y="2084831"/>
            <a:ext cx="987552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B7E93"/>
                </a:solidFill>
                <a:latin typeface="Calibri"/>
                <a:ea typeface="Calibri"/>
                <a:cs typeface="Calibri"/>
                <a:sym typeface="Calibri"/>
              </a:rPr>
              <a:t>—</a:t>
            </a:r>
            <a:endParaRPr/>
          </a:p>
        </p:txBody>
      </p:sp>
      <p:sp>
        <p:nvSpPr>
          <p:cNvPr id="305" name="Google Shape;305;p18"/>
          <p:cNvSpPr/>
          <p:nvPr/>
        </p:nvSpPr>
        <p:spPr>
          <a:xfrm>
            <a:off x="4379976" y="2084831"/>
            <a:ext cx="987552" cy="402336"/>
          </a:xfrm>
          <a:prstGeom prst="roundRect">
            <a:avLst>
              <a:gd fmla="val 16667" name="adj"/>
            </a:avLst>
          </a:prstGeom>
          <a:solidFill>
            <a:srgbClr val="FEF3E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18"/>
          <p:cNvSpPr txBox="1"/>
          <p:nvPr/>
        </p:nvSpPr>
        <p:spPr>
          <a:xfrm>
            <a:off x="4379976" y="2084831"/>
            <a:ext cx="987552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E67E22"/>
                </a:solidFill>
                <a:latin typeface="Calibri"/>
                <a:ea typeface="Calibri"/>
                <a:cs typeface="Calibri"/>
                <a:sym typeface="Calibri"/>
              </a:rPr>
              <a:t>0.08</a:t>
            </a:r>
            <a:endParaRPr/>
          </a:p>
        </p:txBody>
      </p:sp>
      <p:sp>
        <p:nvSpPr>
          <p:cNvPr id="307" name="Google Shape;307;p18"/>
          <p:cNvSpPr/>
          <p:nvPr/>
        </p:nvSpPr>
        <p:spPr>
          <a:xfrm>
            <a:off x="5367528" y="2084831"/>
            <a:ext cx="987552" cy="402336"/>
          </a:xfrm>
          <a:prstGeom prst="roundRect">
            <a:avLst>
              <a:gd fmla="val 16667" name="adj"/>
            </a:avLst>
          </a:prstGeom>
          <a:solidFill>
            <a:srgbClr val="FEF3E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18"/>
          <p:cNvSpPr txBox="1"/>
          <p:nvPr/>
        </p:nvSpPr>
        <p:spPr>
          <a:xfrm>
            <a:off x="5367528" y="2084831"/>
            <a:ext cx="987552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E67E22"/>
                </a:solidFill>
                <a:latin typeface="Calibri"/>
                <a:ea typeface="Calibri"/>
                <a:cs typeface="Calibri"/>
                <a:sym typeface="Calibri"/>
              </a:rPr>
              <a:t>0.14</a:t>
            </a:r>
            <a:endParaRPr/>
          </a:p>
        </p:txBody>
      </p:sp>
      <p:sp>
        <p:nvSpPr>
          <p:cNvPr id="309" name="Google Shape;309;p18"/>
          <p:cNvSpPr/>
          <p:nvPr/>
        </p:nvSpPr>
        <p:spPr>
          <a:xfrm>
            <a:off x="6355080" y="2084831"/>
            <a:ext cx="987552" cy="402336"/>
          </a:xfrm>
          <a:prstGeom prst="roundRect">
            <a:avLst>
              <a:gd fmla="val 16667" name="adj"/>
            </a:avLst>
          </a:prstGeom>
          <a:solidFill>
            <a:srgbClr val="E9F7E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18"/>
          <p:cNvSpPr txBox="1"/>
          <p:nvPr/>
        </p:nvSpPr>
        <p:spPr>
          <a:xfrm>
            <a:off x="6355080" y="2084831"/>
            <a:ext cx="987552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E8449"/>
                </a:solidFill>
                <a:latin typeface="Calibri"/>
                <a:ea typeface="Calibri"/>
                <a:cs typeface="Calibri"/>
                <a:sym typeface="Calibri"/>
              </a:rPr>
              <a:t>-0.22</a:t>
            </a:r>
            <a:endParaRPr/>
          </a:p>
        </p:txBody>
      </p:sp>
      <p:sp>
        <p:nvSpPr>
          <p:cNvPr id="311" name="Google Shape;311;p18"/>
          <p:cNvSpPr/>
          <p:nvPr/>
        </p:nvSpPr>
        <p:spPr>
          <a:xfrm>
            <a:off x="411480" y="2487168"/>
            <a:ext cx="969264" cy="402336"/>
          </a:xfrm>
          <a:prstGeom prst="roundRect">
            <a:avLst>
              <a:gd fmla="val 16667" name="adj"/>
            </a:avLst>
          </a:prstGeom>
          <a:solidFill>
            <a:srgbClr val="0D1B2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18"/>
          <p:cNvSpPr txBox="1"/>
          <p:nvPr/>
        </p:nvSpPr>
        <p:spPr>
          <a:xfrm>
            <a:off x="411480" y="2487168"/>
            <a:ext cx="969264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Series</a:t>
            </a:r>
            <a:endParaRPr/>
          </a:p>
        </p:txBody>
      </p:sp>
      <p:sp>
        <p:nvSpPr>
          <p:cNvPr id="313" name="Google Shape;313;p18"/>
          <p:cNvSpPr/>
          <p:nvPr/>
        </p:nvSpPr>
        <p:spPr>
          <a:xfrm>
            <a:off x="1417320" y="2487168"/>
            <a:ext cx="987552" cy="402336"/>
          </a:xfrm>
          <a:prstGeom prst="roundRect">
            <a:avLst>
              <a:gd fmla="val 16667" name="adj"/>
            </a:avLst>
          </a:prstGeom>
          <a:solidFill>
            <a:srgbClr val="F4F7F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18"/>
          <p:cNvSpPr txBox="1"/>
          <p:nvPr/>
        </p:nvSpPr>
        <p:spPr>
          <a:xfrm>
            <a:off x="1417320" y="2487168"/>
            <a:ext cx="987552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B7E93"/>
                </a:solidFill>
                <a:latin typeface="Calibri"/>
                <a:ea typeface="Calibri"/>
                <a:cs typeface="Calibri"/>
                <a:sym typeface="Calibri"/>
              </a:rPr>
              <a:t>-0.03</a:t>
            </a:r>
            <a:endParaRPr/>
          </a:p>
        </p:txBody>
      </p:sp>
      <p:sp>
        <p:nvSpPr>
          <p:cNvPr id="315" name="Google Shape;315;p18"/>
          <p:cNvSpPr/>
          <p:nvPr/>
        </p:nvSpPr>
        <p:spPr>
          <a:xfrm>
            <a:off x="2404872" y="2487168"/>
            <a:ext cx="987552" cy="402336"/>
          </a:xfrm>
          <a:prstGeom prst="roundRect">
            <a:avLst>
              <a:gd fmla="val 16667" name="adj"/>
            </a:avLst>
          </a:prstGeom>
          <a:solidFill>
            <a:srgbClr val="F4F7F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18"/>
          <p:cNvSpPr txBox="1"/>
          <p:nvPr/>
        </p:nvSpPr>
        <p:spPr>
          <a:xfrm>
            <a:off x="2404872" y="2487168"/>
            <a:ext cx="987552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B7E93"/>
                </a:solidFill>
                <a:latin typeface="Calibri"/>
                <a:ea typeface="Calibri"/>
                <a:cs typeface="Calibri"/>
                <a:sym typeface="Calibri"/>
              </a:rPr>
              <a:t>-0.02</a:t>
            </a:r>
            <a:endParaRPr/>
          </a:p>
        </p:txBody>
      </p:sp>
      <p:sp>
        <p:nvSpPr>
          <p:cNvPr id="317" name="Google Shape;317;p18"/>
          <p:cNvSpPr/>
          <p:nvPr/>
        </p:nvSpPr>
        <p:spPr>
          <a:xfrm>
            <a:off x="3392424" y="2487168"/>
            <a:ext cx="987552" cy="402336"/>
          </a:xfrm>
          <a:prstGeom prst="roundRect">
            <a:avLst>
              <a:gd fmla="val 16667" name="adj"/>
            </a:avLst>
          </a:prstGeom>
          <a:solidFill>
            <a:srgbClr val="FEF3E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18"/>
          <p:cNvSpPr txBox="1"/>
          <p:nvPr/>
        </p:nvSpPr>
        <p:spPr>
          <a:xfrm>
            <a:off x="3392424" y="2487168"/>
            <a:ext cx="987552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E67E22"/>
                </a:solidFill>
                <a:latin typeface="Calibri"/>
                <a:ea typeface="Calibri"/>
                <a:cs typeface="Calibri"/>
                <a:sym typeface="Calibri"/>
              </a:rPr>
              <a:t>0.08</a:t>
            </a:r>
            <a:endParaRPr/>
          </a:p>
        </p:txBody>
      </p:sp>
      <p:sp>
        <p:nvSpPr>
          <p:cNvPr id="319" name="Google Shape;319;p18"/>
          <p:cNvSpPr/>
          <p:nvPr/>
        </p:nvSpPr>
        <p:spPr>
          <a:xfrm>
            <a:off x="4379976" y="2487168"/>
            <a:ext cx="987552" cy="402336"/>
          </a:xfrm>
          <a:prstGeom prst="roundRect">
            <a:avLst>
              <a:gd fmla="val 16667" name="adj"/>
            </a:avLst>
          </a:prstGeom>
          <a:solidFill>
            <a:srgbClr val="BDC3C7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18"/>
          <p:cNvSpPr txBox="1"/>
          <p:nvPr/>
        </p:nvSpPr>
        <p:spPr>
          <a:xfrm>
            <a:off x="4379976" y="2487168"/>
            <a:ext cx="987552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B7E93"/>
                </a:solidFill>
                <a:latin typeface="Calibri"/>
                <a:ea typeface="Calibri"/>
                <a:cs typeface="Calibri"/>
                <a:sym typeface="Calibri"/>
              </a:rPr>
              <a:t>—</a:t>
            </a:r>
            <a:endParaRPr/>
          </a:p>
        </p:txBody>
      </p:sp>
      <p:sp>
        <p:nvSpPr>
          <p:cNvPr id="321" name="Google Shape;321;p18"/>
          <p:cNvSpPr/>
          <p:nvPr/>
        </p:nvSpPr>
        <p:spPr>
          <a:xfrm>
            <a:off x="5367528" y="2487168"/>
            <a:ext cx="987552" cy="402336"/>
          </a:xfrm>
          <a:prstGeom prst="roundRect">
            <a:avLst>
              <a:gd fmla="val 16667" name="adj"/>
            </a:avLst>
          </a:prstGeom>
          <a:solidFill>
            <a:srgbClr val="F4F7F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18"/>
          <p:cNvSpPr txBox="1"/>
          <p:nvPr/>
        </p:nvSpPr>
        <p:spPr>
          <a:xfrm>
            <a:off x="5367528" y="2487168"/>
            <a:ext cx="987552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B7E93"/>
                </a:solidFill>
                <a:latin typeface="Calibri"/>
                <a:ea typeface="Calibri"/>
                <a:cs typeface="Calibri"/>
                <a:sym typeface="Calibri"/>
              </a:rPr>
              <a:t>0.04</a:t>
            </a:r>
            <a:endParaRPr/>
          </a:p>
        </p:txBody>
      </p:sp>
      <p:sp>
        <p:nvSpPr>
          <p:cNvPr id="323" name="Google Shape;323;p18"/>
          <p:cNvSpPr/>
          <p:nvPr/>
        </p:nvSpPr>
        <p:spPr>
          <a:xfrm>
            <a:off x="6355080" y="2487168"/>
            <a:ext cx="987552" cy="402336"/>
          </a:xfrm>
          <a:prstGeom prst="roundRect">
            <a:avLst>
              <a:gd fmla="val 16667" name="adj"/>
            </a:avLst>
          </a:prstGeom>
          <a:solidFill>
            <a:srgbClr val="E9F7E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18"/>
          <p:cNvSpPr txBox="1"/>
          <p:nvPr/>
        </p:nvSpPr>
        <p:spPr>
          <a:xfrm>
            <a:off x="6355080" y="2487168"/>
            <a:ext cx="987552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E8449"/>
                </a:solidFill>
                <a:latin typeface="Calibri"/>
                <a:ea typeface="Calibri"/>
                <a:cs typeface="Calibri"/>
                <a:sym typeface="Calibri"/>
              </a:rPr>
              <a:t>-0.20</a:t>
            </a:r>
            <a:endParaRPr/>
          </a:p>
        </p:txBody>
      </p:sp>
      <p:sp>
        <p:nvSpPr>
          <p:cNvPr id="325" name="Google Shape;325;p18"/>
          <p:cNvSpPr/>
          <p:nvPr/>
        </p:nvSpPr>
        <p:spPr>
          <a:xfrm>
            <a:off x="411480" y="2889504"/>
            <a:ext cx="969264" cy="402336"/>
          </a:xfrm>
          <a:prstGeom prst="roundRect">
            <a:avLst>
              <a:gd fmla="val 16667" name="adj"/>
            </a:avLst>
          </a:prstGeom>
          <a:solidFill>
            <a:srgbClr val="0D1B2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18"/>
          <p:cNvSpPr txBox="1"/>
          <p:nvPr/>
        </p:nvSpPr>
        <p:spPr>
          <a:xfrm>
            <a:off x="411480" y="2889504"/>
            <a:ext cx="969264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Kids</a:t>
            </a:r>
            <a:endParaRPr/>
          </a:p>
        </p:txBody>
      </p:sp>
      <p:sp>
        <p:nvSpPr>
          <p:cNvPr id="327" name="Google Shape;327;p18"/>
          <p:cNvSpPr/>
          <p:nvPr/>
        </p:nvSpPr>
        <p:spPr>
          <a:xfrm>
            <a:off x="1417320" y="2889504"/>
            <a:ext cx="987552" cy="402336"/>
          </a:xfrm>
          <a:prstGeom prst="roundRect">
            <a:avLst>
              <a:gd fmla="val 16667" name="adj"/>
            </a:avLst>
          </a:prstGeom>
          <a:solidFill>
            <a:srgbClr val="F4F7F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18"/>
          <p:cNvSpPr txBox="1"/>
          <p:nvPr/>
        </p:nvSpPr>
        <p:spPr>
          <a:xfrm>
            <a:off x="1417320" y="2889504"/>
            <a:ext cx="987552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B7E93"/>
                </a:solidFill>
                <a:latin typeface="Calibri"/>
                <a:ea typeface="Calibri"/>
                <a:cs typeface="Calibri"/>
                <a:sym typeface="Calibri"/>
              </a:rPr>
              <a:t>-0.02</a:t>
            </a:r>
            <a:endParaRPr/>
          </a:p>
        </p:txBody>
      </p:sp>
      <p:sp>
        <p:nvSpPr>
          <p:cNvPr id="329" name="Google Shape;329;p18"/>
          <p:cNvSpPr/>
          <p:nvPr/>
        </p:nvSpPr>
        <p:spPr>
          <a:xfrm>
            <a:off x="2404872" y="2889504"/>
            <a:ext cx="987552" cy="402336"/>
          </a:xfrm>
          <a:prstGeom prst="roundRect">
            <a:avLst>
              <a:gd fmla="val 16667" name="adj"/>
            </a:avLst>
          </a:prstGeom>
          <a:solidFill>
            <a:srgbClr val="F4F7F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18"/>
          <p:cNvSpPr txBox="1"/>
          <p:nvPr/>
        </p:nvSpPr>
        <p:spPr>
          <a:xfrm>
            <a:off x="2404872" y="2889504"/>
            <a:ext cx="987552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B7E93"/>
                </a:solidFill>
                <a:latin typeface="Calibri"/>
                <a:ea typeface="Calibri"/>
                <a:cs typeface="Calibri"/>
                <a:sym typeface="Calibri"/>
              </a:rPr>
              <a:t>-0.01</a:t>
            </a:r>
            <a:endParaRPr/>
          </a:p>
        </p:txBody>
      </p:sp>
      <p:sp>
        <p:nvSpPr>
          <p:cNvPr id="331" name="Google Shape;331;p18"/>
          <p:cNvSpPr/>
          <p:nvPr/>
        </p:nvSpPr>
        <p:spPr>
          <a:xfrm>
            <a:off x="3392424" y="2889504"/>
            <a:ext cx="987552" cy="402336"/>
          </a:xfrm>
          <a:prstGeom prst="roundRect">
            <a:avLst>
              <a:gd fmla="val 16667" name="adj"/>
            </a:avLst>
          </a:prstGeom>
          <a:solidFill>
            <a:srgbClr val="FEF3E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18"/>
          <p:cNvSpPr txBox="1"/>
          <p:nvPr/>
        </p:nvSpPr>
        <p:spPr>
          <a:xfrm>
            <a:off x="3392424" y="2889504"/>
            <a:ext cx="987552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E67E22"/>
                </a:solidFill>
                <a:latin typeface="Calibri"/>
                <a:ea typeface="Calibri"/>
                <a:cs typeface="Calibri"/>
                <a:sym typeface="Calibri"/>
              </a:rPr>
              <a:t>0.14</a:t>
            </a:r>
            <a:endParaRPr/>
          </a:p>
        </p:txBody>
      </p:sp>
      <p:sp>
        <p:nvSpPr>
          <p:cNvPr id="333" name="Google Shape;333;p18"/>
          <p:cNvSpPr/>
          <p:nvPr/>
        </p:nvSpPr>
        <p:spPr>
          <a:xfrm>
            <a:off x="4379976" y="2889504"/>
            <a:ext cx="987552" cy="402336"/>
          </a:xfrm>
          <a:prstGeom prst="roundRect">
            <a:avLst>
              <a:gd fmla="val 16667" name="adj"/>
            </a:avLst>
          </a:prstGeom>
          <a:solidFill>
            <a:srgbClr val="F4F7F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18"/>
          <p:cNvSpPr txBox="1"/>
          <p:nvPr/>
        </p:nvSpPr>
        <p:spPr>
          <a:xfrm>
            <a:off x="4379976" y="2889504"/>
            <a:ext cx="987552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B7E93"/>
                </a:solidFill>
                <a:latin typeface="Calibri"/>
                <a:ea typeface="Calibri"/>
                <a:cs typeface="Calibri"/>
                <a:sym typeface="Calibri"/>
              </a:rPr>
              <a:t>0.04</a:t>
            </a:r>
            <a:endParaRPr/>
          </a:p>
        </p:txBody>
      </p:sp>
      <p:sp>
        <p:nvSpPr>
          <p:cNvPr id="335" name="Google Shape;335;p18"/>
          <p:cNvSpPr/>
          <p:nvPr/>
        </p:nvSpPr>
        <p:spPr>
          <a:xfrm>
            <a:off x="5367528" y="2889504"/>
            <a:ext cx="987552" cy="402336"/>
          </a:xfrm>
          <a:prstGeom prst="roundRect">
            <a:avLst>
              <a:gd fmla="val 16667" name="adj"/>
            </a:avLst>
          </a:prstGeom>
          <a:solidFill>
            <a:srgbClr val="BDC3C7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18"/>
          <p:cNvSpPr txBox="1"/>
          <p:nvPr/>
        </p:nvSpPr>
        <p:spPr>
          <a:xfrm>
            <a:off x="5367528" y="2889504"/>
            <a:ext cx="987552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B7E93"/>
                </a:solidFill>
                <a:latin typeface="Calibri"/>
                <a:ea typeface="Calibri"/>
                <a:cs typeface="Calibri"/>
                <a:sym typeface="Calibri"/>
              </a:rPr>
              <a:t>—</a:t>
            </a:r>
            <a:endParaRPr/>
          </a:p>
        </p:txBody>
      </p:sp>
      <p:sp>
        <p:nvSpPr>
          <p:cNvPr id="337" name="Google Shape;337;p18"/>
          <p:cNvSpPr/>
          <p:nvPr/>
        </p:nvSpPr>
        <p:spPr>
          <a:xfrm>
            <a:off x="6355080" y="2889504"/>
            <a:ext cx="987552" cy="402336"/>
          </a:xfrm>
          <a:prstGeom prst="roundRect">
            <a:avLst>
              <a:gd fmla="val 16667" name="adj"/>
            </a:avLst>
          </a:prstGeom>
          <a:solidFill>
            <a:srgbClr val="E9F7E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18"/>
          <p:cNvSpPr txBox="1"/>
          <p:nvPr/>
        </p:nvSpPr>
        <p:spPr>
          <a:xfrm>
            <a:off x="6355080" y="2889504"/>
            <a:ext cx="987552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E8449"/>
                </a:solidFill>
                <a:latin typeface="Calibri"/>
                <a:ea typeface="Calibri"/>
                <a:cs typeface="Calibri"/>
                <a:sym typeface="Calibri"/>
              </a:rPr>
              <a:t>-0.12</a:t>
            </a:r>
            <a:endParaRPr/>
          </a:p>
        </p:txBody>
      </p:sp>
      <p:sp>
        <p:nvSpPr>
          <p:cNvPr id="339" name="Google Shape;339;p18"/>
          <p:cNvSpPr/>
          <p:nvPr/>
        </p:nvSpPr>
        <p:spPr>
          <a:xfrm>
            <a:off x="411480" y="3291840"/>
            <a:ext cx="969264" cy="402336"/>
          </a:xfrm>
          <a:prstGeom prst="roundRect">
            <a:avLst>
              <a:gd fmla="val 16667" name="adj"/>
            </a:avLst>
          </a:prstGeom>
          <a:solidFill>
            <a:srgbClr val="0D1B2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18"/>
          <p:cNvSpPr txBox="1"/>
          <p:nvPr/>
        </p:nvSpPr>
        <p:spPr>
          <a:xfrm>
            <a:off x="411480" y="3291840"/>
            <a:ext cx="969264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Bundle+</a:t>
            </a:r>
            <a:endParaRPr/>
          </a:p>
        </p:txBody>
      </p:sp>
      <p:sp>
        <p:nvSpPr>
          <p:cNvPr id="341" name="Google Shape;341;p18"/>
          <p:cNvSpPr/>
          <p:nvPr/>
        </p:nvSpPr>
        <p:spPr>
          <a:xfrm>
            <a:off x="1417320" y="3291840"/>
            <a:ext cx="987552" cy="402336"/>
          </a:xfrm>
          <a:prstGeom prst="roundRect">
            <a:avLst>
              <a:gd fmla="val 16667" name="adj"/>
            </a:avLst>
          </a:prstGeom>
          <a:solidFill>
            <a:srgbClr val="FEF3E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18"/>
          <p:cNvSpPr txBox="1"/>
          <p:nvPr/>
        </p:nvSpPr>
        <p:spPr>
          <a:xfrm>
            <a:off x="1417320" y="3291840"/>
            <a:ext cx="987552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E67E22"/>
                </a:solidFill>
                <a:latin typeface="Calibri"/>
                <a:ea typeface="Calibri"/>
                <a:cs typeface="Calibri"/>
                <a:sym typeface="Calibri"/>
              </a:rPr>
              <a:t>0.20</a:t>
            </a:r>
            <a:endParaRPr/>
          </a:p>
        </p:txBody>
      </p:sp>
      <p:sp>
        <p:nvSpPr>
          <p:cNvPr id="343" name="Google Shape;343;p18"/>
          <p:cNvSpPr/>
          <p:nvPr/>
        </p:nvSpPr>
        <p:spPr>
          <a:xfrm>
            <a:off x="2404872" y="3291840"/>
            <a:ext cx="987552" cy="402336"/>
          </a:xfrm>
          <a:prstGeom prst="roundRect">
            <a:avLst>
              <a:gd fmla="val 16667" name="adj"/>
            </a:avLst>
          </a:prstGeom>
          <a:solidFill>
            <a:srgbClr val="FEF3E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18"/>
          <p:cNvSpPr txBox="1"/>
          <p:nvPr/>
        </p:nvSpPr>
        <p:spPr>
          <a:xfrm>
            <a:off x="2404872" y="3291840"/>
            <a:ext cx="987552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E67E22"/>
                </a:solidFill>
                <a:latin typeface="Calibri"/>
                <a:ea typeface="Calibri"/>
                <a:cs typeface="Calibri"/>
                <a:sym typeface="Calibri"/>
              </a:rPr>
              <a:t>0.15</a:t>
            </a:r>
            <a:endParaRPr/>
          </a:p>
        </p:txBody>
      </p:sp>
      <p:sp>
        <p:nvSpPr>
          <p:cNvPr id="345" name="Google Shape;345;p18"/>
          <p:cNvSpPr/>
          <p:nvPr/>
        </p:nvSpPr>
        <p:spPr>
          <a:xfrm>
            <a:off x="3392424" y="3291840"/>
            <a:ext cx="987552" cy="402336"/>
          </a:xfrm>
          <a:prstGeom prst="roundRect">
            <a:avLst>
              <a:gd fmla="val 16667" name="adj"/>
            </a:avLst>
          </a:prstGeom>
          <a:solidFill>
            <a:srgbClr val="FEF3E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8"/>
          <p:cNvSpPr txBox="1"/>
          <p:nvPr/>
        </p:nvSpPr>
        <p:spPr>
          <a:xfrm>
            <a:off x="3392424" y="3291840"/>
            <a:ext cx="987552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E67E22"/>
                </a:solidFill>
                <a:latin typeface="Calibri"/>
                <a:ea typeface="Calibri"/>
                <a:cs typeface="Calibri"/>
                <a:sym typeface="Calibri"/>
              </a:rPr>
              <a:t>0.25</a:t>
            </a:r>
            <a:endParaRPr/>
          </a:p>
        </p:txBody>
      </p:sp>
      <p:sp>
        <p:nvSpPr>
          <p:cNvPr id="347" name="Google Shape;347;p18"/>
          <p:cNvSpPr/>
          <p:nvPr/>
        </p:nvSpPr>
        <p:spPr>
          <a:xfrm>
            <a:off x="4379976" y="3291840"/>
            <a:ext cx="987552" cy="402336"/>
          </a:xfrm>
          <a:prstGeom prst="roundRect">
            <a:avLst>
              <a:gd fmla="val 16667" name="adj"/>
            </a:avLst>
          </a:prstGeom>
          <a:solidFill>
            <a:srgbClr val="FEF3E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p18"/>
          <p:cNvSpPr txBox="1"/>
          <p:nvPr/>
        </p:nvSpPr>
        <p:spPr>
          <a:xfrm>
            <a:off x="4379976" y="3291840"/>
            <a:ext cx="987552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E67E22"/>
                </a:solidFill>
                <a:latin typeface="Calibri"/>
                <a:ea typeface="Calibri"/>
                <a:cs typeface="Calibri"/>
                <a:sym typeface="Calibri"/>
              </a:rPr>
              <a:t>0.18</a:t>
            </a:r>
            <a:endParaRPr/>
          </a:p>
        </p:txBody>
      </p:sp>
      <p:sp>
        <p:nvSpPr>
          <p:cNvPr id="349" name="Google Shape;349;p18"/>
          <p:cNvSpPr/>
          <p:nvPr/>
        </p:nvSpPr>
        <p:spPr>
          <a:xfrm>
            <a:off x="5367528" y="3291840"/>
            <a:ext cx="987552" cy="402336"/>
          </a:xfrm>
          <a:prstGeom prst="roundRect">
            <a:avLst>
              <a:gd fmla="val 16667" name="adj"/>
            </a:avLst>
          </a:prstGeom>
          <a:solidFill>
            <a:srgbClr val="FEF3E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18"/>
          <p:cNvSpPr txBox="1"/>
          <p:nvPr/>
        </p:nvSpPr>
        <p:spPr>
          <a:xfrm>
            <a:off x="5367528" y="3291840"/>
            <a:ext cx="987552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E67E22"/>
                </a:solidFill>
                <a:latin typeface="Calibri"/>
                <a:ea typeface="Calibri"/>
                <a:cs typeface="Calibri"/>
                <a:sym typeface="Calibri"/>
              </a:rPr>
              <a:t>0.12</a:t>
            </a:r>
            <a:endParaRPr/>
          </a:p>
        </p:txBody>
      </p:sp>
      <p:sp>
        <p:nvSpPr>
          <p:cNvPr id="351" name="Google Shape;351;p18"/>
          <p:cNvSpPr/>
          <p:nvPr/>
        </p:nvSpPr>
        <p:spPr>
          <a:xfrm>
            <a:off x="6355080" y="3291840"/>
            <a:ext cx="987552" cy="402336"/>
          </a:xfrm>
          <a:prstGeom prst="roundRect">
            <a:avLst>
              <a:gd fmla="val 16667" name="adj"/>
            </a:avLst>
          </a:prstGeom>
          <a:solidFill>
            <a:srgbClr val="BDC3C7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18"/>
          <p:cNvSpPr txBox="1"/>
          <p:nvPr/>
        </p:nvSpPr>
        <p:spPr>
          <a:xfrm>
            <a:off x="6355080" y="3291840"/>
            <a:ext cx="987552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B7E93"/>
                </a:solidFill>
                <a:latin typeface="Calibri"/>
                <a:ea typeface="Calibri"/>
                <a:cs typeface="Calibri"/>
                <a:sym typeface="Calibri"/>
              </a:rPr>
              <a:t>—</a:t>
            </a:r>
            <a:endParaRPr/>
          </a:p>
        </p:txBody>
      </p:sp>
      <p:sp>
        <p:nvSpPr>
          <p:cNvPr id="353" name="Google Shape;353;p18"/>
          <p:cNvSpPr txBox="1"/>
          <p:nvPr/>
        </p:nvSpPr>
        <p:spPr>
          <a:xfrm>
            <a:off x="411480" y="3767328"/>
            <a:ext cx="82296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E93"/>
                </a:solidFill>
                <a:latin typeface="Calibri"/>
                <a:ea typeface="Calibri"/>
                <a:cs typeface="Calibri"/>
                <a:sym typeface="Calibri"/>
              </a:rPr>
              <a:t>Orange = substitutes (price increase drains subscribers to internal competitor)    Green = complements (price increase raises demand)</a:t>
            </a:r>
            <a:endParaRPr/>
          </a:p>
        </p:txBody>
      </p:sp>
      <p:sp>
        <p:nvSpPr>
          <p:cNvPr id="354" name="Google Shape;354;p18"/>
          <p:cNvSpPr/>
          <p:nvPr/>
        </p:nvSpPr>
        <p:spPr>
          <a:xfrm>
            <a:off x="411480" y="4315968"/>
            <a:ext cx="8321040" cy="548640"/>
          </a:xfrm>
          <a:prstGeom prst="roundRect">
            <a:avLst>
              <a:gd fmla="val 16667" name="adj"/>
            </a:avLst>
          </a:prstGeom>
          <a:solidFill>
            <a:srgbClr val="D6EAF8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18"/>
          <p:cNvSpPr txBox="1"/>
          <p:nvPr/>
        </p:nvSpPr>
        <p:spPr>
          <a:xfrm>
            <a:off x="502920" y="4352544"/>
            <a:ext cx="813816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💡  Bundle Plus is the migration destination when Football raises price (ε=+0.20). A well-executed Football price increase can boost Bundle Plus — the net revenue effect can be positive if the bundle is priced above breakeven.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7FA"/>
        </a:solidFill>
      </p:bgPr>
    </p:bg>
    <p:spTree>
      <p:nvGrpSpPr>
        <p:cNvPr id="359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19"/>
          <p:cNvSpPr/>
          <p:nvPr/>
        </p:nvSpPr>
        <p:spPr>
          <a:xfrm>
            <a:off x="411480" y="109728"/>
            <a:ext cx="1920240" cy="265176"/>
          </a:xfrm>
          <a:prstGeom prst="roundRect">
            <a:avLst>
              <a:gd fmla="val 16667" name="adj"/>
            </a:avLst>
          </a:prstGeom>
          <a:solidFill>
            <a:srgbClr val="00C2CB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91425" spcFirstLastPara="1" rIns="91425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05  SEASONAL TIMING</a:t>
            </a:r>
            <a:endParaRPr/>
          </a:p>
        </p:txBody>
      </p:sp>
      <p:sp>
        <p:nvSpPr>
          <p:cNvPr id="361" name="Google Shape;361;p19"/>
          <p:cNvSpPr txBox="1"/>
          <p:nvPr/>
        </p:nvSpPr>
        <p:spPr>
          <a:xfrm>
            <a:off x="411480" y="475488"/>
            <a:ext cx="83210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The implementation month matters as much as the % increase</a:t>
            </a:r>
            <a:endParaRPr/>
          </a:p>
        </p:txBody>
      </p:sp>
      <p:sp>
        <p:nvSpPr>
          <p:cNvPr id="362" name="Google Shape;362;p19"/>
          <p:cNvSpPr txBox="1"/>
          <p:nvPr/>
        </p:nvSpPr>
        <p:spPr>
          <a:xfrm>
            <a:off x="411480" y="969264"/>
            <a:ext cx="83210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B7E93"/>
                </a:solidFill>
                <a:latin typeface="Calibri"/>
                <a:ea typeface="Calibri"/>
                <a:cs typeface="Calibri"/>
                <a:sym typeface="Calibri"/>
              </a:rPr>
              <a:t>A R$5 increase in Nov (index 1.35) causes 40% less churn than the same increase in Feb (index 0.78)</a:t>
            </a:r>
            <a:endParaRPr/>
          </a:p>
        </p:txBody>
      </p:sp>
      <p:pic>
        <p:nvPicPr>
          <p:cNvPr id="363" name="Google Shape;363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1480" y="1316736"/>
            <a:ext cx="5303520" cy="2578608"/>
          </a:xfrm>
          <a:prstGeom prst="rect">
            <a:avLst/>
          </a:prstGeom>
          <a:noFill/>
          <a:ln>
            <a:noFill/>
          </a:ln>
        </p:spPr>
      </p:pic>
      <p:sp>
        <p:nvSpPr>
          <p:cNvPr id="364" name="Google Shape;364;p19"/>
          <p:cNvSpPr txBox="1"/>
          <p:nvPr/>
        </p:nvSpPr>
        <p:spPr>
          <a:xfrm>
            <a:off x="5852160" y="1316736"/>
            <a:ext cx="28803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Timing ranking — Football +5.6%</a:t>
            </a:r>
            <a:endParaRPr/>
          </a:p>
        </p:txBody>
      </p:sp>
      <p:sp>
        <p:nvSpPr>
          <p:cNvPr id="365" name="Google Shape;365;p19"/>
          <p:cNvSpPr/>
          <p:nvPr/>
        </p:nvSpPr>
        <p:spPr>
          <a:xfrm>
            <a:off x="5852160" y="1645920"/>
            <a:ext cx="2880360" cy="365760"/>
          </a:xfrm>
          <a:prstGeom prst="roundRect">
            <a:avLst>
              <a:gd fmla="val 16667" name="adj"/>
            </a:avLst>
          </a:prstGeom>
          <a:solidFill>
            <a:srgbClr val="E9F7E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19"/>
          <p:cNvSpPr txBox="1"/>
          <p:nvPr/>
        </p:nvSpPr>
        <p:spPr>
          <a:xfrm>
            <a:off x="5925312" y="1645920"/>
            <a:ext cx="34747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E8449"/>
                </a:solidFill>
                <a:latin typeface="Calibri"/>
                <a:ea typeface="Calibri"/>
                <a:cs typeface="Calibri"/>
                <a:sym typeface="Calibri"/>
              </a:rPr>
              <a:t>1°</a:t>
            </a:r>
            <a:endParaRPr/>
          </a:p>
        </p:txBody>
      </p:sp>
      <p:sp>
        <p:nvSpPr>
          <p:cNvPr id="367" name="Google Shape;367;p19"/>
          <p:cNvSpPr txBox="1"/>
          <p:nvPr/>
        </p:nvSpPr>
        <p:spPr>
          <a:xfrm>
            <a:off x="6291072" y="1645920"/>
            <a:ext cx="512064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E8449"/>
                </a:solidFill>
                <a:latin typeface="Calibri"/>
                <a:ea typeface="Calibri"/>
                <a:cs typeface="Calibri"/>
                <a:sym typeface="Calibri"/>
              </a:rPr>
              <a:t>Nov</a:t>
            </a:r>
            <a:endParaRPr/>
          </a:p>
        </p:txBody>
      </p:sp>
      <p:sp>
        <p:nvSpPr>
          <p:cNvPr id="368" name="Google Shape;368;p19"/>
          <p:cNvSpPr txBox="1"/>
          <p:nvPr/>
        </p:nvSpPr>
        <p:spPr>
          <a:xfrm>
            <a:off x="6821424" y="1645920"/>
            <a:ext cx="80467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E93"/>
                </a:solidFill>
                <a:latin typeface="Calibri"/>
                <a:ea typeface="Calibri"/>
                <a:cs typeface="Calibri"/>
                <a:sym typeface="Calibri"/>
              </a:rPr>
              <a:t>Index 1.35</a:t>
            </a:r>
            <a:endParaRPr/>
          </a:p>
        </p:txBody>
      </p:sp>
      <p:sp>
        <p:nvSpPr>
          <p:cNvPr id="369" name="Google Shape;369;p19"/>
          <p:cNvSpPr txBox="1"/>
          <p:nvPr/>
        </p:nvSpPr>
        <p:spPr>
          <a:xfrm>
            <a:off x="7644383" y="1645920"/>
            <a:ext cx="1024128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E8449"/>
                </a:solidFill>
                <a:latin typeface="Calibri"/>
                <a:ea typeface="Calibri"/>
                <a:cs typeface="Calibri"/>
                <a:sym typeface="Calibri"/>
              </a:rPr>
              <a:t>R$321k</a:t>
            </a:r>
            <a:endParaRPr/>
          </a:p>
        </p:txBody>
      </p:sp>
      <p:sp>
        <p:nvSpPr>
          <p:cNvPr id="370" name="Google Shape;370;p19"/>
          <p:cNvSpPr/>
          <p:nvPr/>
        </p:nvSpPr>
        <p:spPr>
          <a:xfrm>
            <a:off x="5852160" y="2066544"/>
            <a:ext cx="2880360" cy="36576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19"/>
          <p:cNvSpPr txBox="1"/>
          <p:nvPr/>
        </p:nvSpPr>
        <p:spPr>
          <a:xfrm>
            <a:off x="5925312" y="2066544"/>
            <a:ext cx="34747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2°</a:t>
            </a:r>
            <a:endParaRPr/>
          </a:p>
        </p:txBody>
      </p:sp>
      <p:sp>
        <p:nvSpPr>
          <p:cNvPr id="372" name="Google Shape;372;p19"/>
          <p:cNvSpPr txBox="1"/>
          <p:nvPr/>
        </p:nvSpPr>
        <p:spPr>
          <a:xfrm>
            <a:off x="6291072" y="2066544"/>
            <a:ext cx="512064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Dec</a:t>
            </a:r>
            <a:endParaRPr/>
          </a:p>
        </p:txBody>
      </p:sp>
      <p:sp>
        <p:nvSpPr>
          <p:cNvPr id="373" name="Google Shape;373;p19"/>
          <p:cNvSpPr txBox="1"/>
          <p:nvPr/>
        </p:nvSpPr>
        <p:spPr>
          <a:xfrm>
            <a:off x="6821424" y="2066544"/>
            <a:ext cx="80467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E93"/>
                </a:solidFill>
                <a:latin typeface="Calibri"/>
                <a:ea typeface="Calibri"/>
                <a:cs typeface="Calibri"/>
                <a:sym typeface="Calibri"/>
              </a:rPr>
              <a:t>Index 1.25</a:t>
            </a:r>
            <a:endParaRPr/>
          </a:p>
        </p:txBody>
      </p:sp>
      <p:sp>
        <p:nvSpPr>
          <p:cNvPr id="374" name="Google Shape;374;p19"/>
          <p:cNvSpPr txBox="1"/>
          <p:nvPr/>
        </p:nvSpPr>
        <p:spPr>
          <a:xfrm>
            <a:off x="7644383" y="2066544"/>
            <a:ext cx="1024128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R$314k</a:t>
            </a:r>
            <a:endParaRPr/>
          </a:p>
        </p:txBody>
      </p:sp>
      <p:sp>
        <p:nvSpPr>
          <p:cNvPr id="375" name="Google Shape;375;p19"/>
          <p:cNvSpPr/>
          <p:nvPr/>
        </p:nvSpPr>
        <p:spPr>
          <a:xfrm>
            <a:off x="5852160" y="2487168"/>
            <a:ext cx="2880360" cy="36576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6" name="Google Shape;376;p19"/>
          <p:cNvSpPr txBox="1"/>
          <p:nvPr/>
        </p:nvSpPr>
        <p:spPr>
          <a:xfrm>
            <a:off x="5925312" y="2487168"/>
            <a:ext cx="34747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3°</a:t>
            </a:r>
            <a:endParaRPr/>
          </a:p>
        </p:txBody>
      </p:sp>
      <p:sp>
        <p:nvSpPr>
          <p:cNvPr id="377" name="Google Shape;377;p19"/>
          <p:cNvSpPr txBox="1"/>
          <p:nvPr/>
        </p:nvSpPr>
        <p:spPr>
          <a:xfrm>
            <a:off x="6291072" y="2487168"/>
            <a:ext cx="512064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Oct</a:t>
            </a:r>
            <a:endParaRPr/>
          </a:p>
        </p:txBody>
      </p:sp>
      <p:sp>
        <p:nvSpPr>
          <p:cNvPr id="378" name="Google Shape;378;p19"/>
          <p:cNvSpPr txBox="1"/>
          <p:nvPr/>
        </p:nvSpPr>
        <p:spPr>
          <a:xfrm>
            <a:off x="6821424" y="2487168"/>
            <a:ext cx="80467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E93"/>
                </a:solidFill>
                <a:latin typeface="Calibri"/>
                <a:ea typeface="Calibri"/>
                <a:cs typeface="Calibri"/>
                <a:sym typeface="Calibri"/>
              </a:rPr>
              <a:t>Index 1.12</a:t>
            </a:r>
            <a:endParaRPr/>
          </a:p>
        </p:txBody>
      </p:sp>
      <p:sp>
        <p:nvSpPr>
          <p:cNvPr id="379" name="Google Shape;379;p19"/>
          <p:cNvSpPr txBox="1"/>
          <p:nvPr/>
        </p:nvSpPr>
        <p:spPr>
          <a:xfrm>
            <a:off x="7644383" y="2487168"/>
            <a:ext cx="1024128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R$305k</a:t>
            </a:r>
            <a:endParaRPr/>
          </a:p>
        </p:txBody>
      </p:sp>
      <p:sp>
        <p:nvSpPr>
          <p:cNvPr id="380" name="Google Shape;380;p19"/>
          <p:cNvSpPr/>
          <p:nvPr/>
        </p:nvSpPr>
        <p:spPr>
          <a:xfrm>
            <a:off x="5852160" y="2907792"/>
            <a:ext cx="2880360" cy="36576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" name="Google Shape;381;p19"/>
          <p:cNvSpPr txBox="1"/>
          <p:nvPr/>
        </p:nvSpPr>
        <p:spPr>
          <a:xfrm>
            <a:off x="5925312" y="2907792"/>
            <a:ext cx="34747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4°</a:t>
            </a:r>
            <a:endParaRPr/>
          </a:p>
        </p:txBody>
      </p:sp>
      <p:sp>
        <p:nvSpPr>
          <p:cNvPr id="382" name="Google Shape;382;p19"/>
          <p:cNvSpPr txBox="1"/>
          <p:nvPr/>
        </p:nvSpPr>
        <p:spPr>
          <a:xfrm>
            <a:off x="6291072" y="2907792"/>
            <a:ext cx="512064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May</a:t>
            </a:r>
            <a:endParaRPr/>
          </a:p>
        </p:txBody>
      </p:sp>
      <p:sp>
        <p:nvSpPr>
          <p:cNvPr id="383" name="Google Shape;383;p19"/>
          <p:cNvSpPr txBox="1"/>
          <p:nvPr/>
        </p:nvSpPr>
        <p:spPr>
          <a:xfrm>
            <a:off x="6821424" y="2907792"/>
            <a:ext cx="80467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E93"/>
                </a:solidFill>
                <a:latin typeface="Calibri"/>
                <a:ea typeface="Calibri"/>
                <a:cs typeface="Calibri"/>
                <a:sym typeface="Calibri"/>
              </a:rPr>
              <a:t>Index 1.10</a:t>
            </a:r>
            <a:endParaRPr/>
          </a:p>
        </p:txBody>
      </p:sp>
      <p:sp>
        <p:nvSpPr>
          <p:cNvPr id="384" name="Google Shape;384;p19"/>
          <p:cNvSpPr txBox="1"/>
          <p:nvPr/>
        </p:nvSpPr>
        <p:spPr>
          <a:xfrm>
            <a:off x="7644383" y="2907792"/>
            <a:ext cx="1024128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R$303k</a:t>
            </a:r>
            <a:endParaRPr/>
          </a:p>
        </p:txBody>
      </p:sp>
      <p:sp>
        <p:nvSpPr>
          <p:cNvPr id="385" name="Google Shape;385;p19"/>
          <p:cNvSpPr/>
          <p:nvPr/>
        </p:nvSpPr>
        <p:spPr>
          <a:xfrm>
            <a:off x="5852160" y="3328416"/>
            <a:ext cx="2880360" cy="36576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" name="Google Shape;386;p19"/>
          <p:cNvSpPr txBox="1"/>
          <p:nvPr/>
        </p:nvSpPr>
        <p:spPr>
          <a:xfrm>
            <a:off x="5925312" y="3328416"/>
            <a:ext cx="34747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5°</a:t>
            </a:r>
            <a:endParaRPr/>
          </a:p>
        </p:txBody>
      </p:sp>
      <p:sp>
        <p:nvSpPr>
          <p:cNvPr id="387" name="Google Shape;387;p19"/>
          <p:cNvSpPr txBox="1"/>
          <p:nvPr/>
        </p:nvSpPr>
        <p:spPr>
          <a:xfrm>
            <a:off x="6291072" y="3328416"/>
            <a:ext cx="512064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Sep</a:t>
            </a:r>
            <a:endParaRPr/>
          </a:p>
        </p:txBody>
      </p:sp>
      <p:sp>
        <p:nvSpPr>
          <p:cNvPr id="388" name="Google Shape;388;p19"/>
          <p:cNvSpPr txBox="1"/>
          <p:nvPr/>
        </p:nvSpPr>
        <p:spPr>
          <a:xfrm>
            <a:off x="6821424" y="3328416"/>
            <a:ext cx="80467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E93"/>
                </a:solidFill>
                <a:latin typeface="Calibri"/>
                <a:ea typeface="Calibri"/>
                <a:cs typeface="Calibri"/>
                <a:sym typeface="Calibri"/>
              </a:rPr>
              <a:t>Index 1.08</a:t>
            </a:r>
            <a:endParaRPr/>
          </a:p>
        </p:txBody>
      </p:sp>
      <p:sp>
        <p:nvSpPr>
          <p:cNvPr id="389" name="Google Shape;389;p19"/>
          <p:cNvSpPr txBox="1"/>
          <p:nvPr/>
        </p:nvSpPr>
        <p:spPr>
          <a:xfrm>
            <a:off x="7644383" y="3328416"/>
            <a:ext cx="1024128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R$302k</a:t>
            </a:r>
            <a:endParaRPr/>
          </a:p>
        </p:txBody>
      </p:sp>
      <p:sp>
        <p:nvSpPr>
          <p:cNvPr id="390" name="Google Shape;390;p19"/>
          <p:cNvSpPr/>
          <p:nvPr/>
        </p:nvSpPr>
        <p:spPr>
          <a:xfrm>
            <a:off x="5852160" y="3749040"/>
            <a:ext cx="2880360" cy="365760"/>
          </a:xfrm>
          <a:prstGeom prst="roundRect">
            <a:avLst>
              <a:gd fmla="val 16667" name="adj"/>
            </a:avLst>
          </a:prstGeom>
          <a:solidFill>
            <a:srgbClr val="FDECE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19"/>
          <p:cNvSpPr txBox="1"/>
          <p:nvPr/>
        </p:nvSpPr>
        <p:spPr>
          <a:xfrm>
            <a:off x="5925312" y="3749040"/>
            <a:ext cx="34747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6°</a:t>
            </a:r>
            <a:endParaRPr/>
          </a:p>
        </p:txBody>
      </p:sp>
      <p:sp>
        <p:nvSpPr>
          <p:cNvPr id="392" name="Google Shape;392;p19"/>
          <p:cNvSpPr txBox="1"/>
          <p:nvPr/>
        </p:nvSpPr>
        <p:spPr>
          <a:xfrm>
            <a:off x="6291072" y="3749040"/>
            <a:ext cx="512064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Jun</a:t>
            </a:r>
            <a:endParaRPr/>
          </a:p>
        </p:txBody>
      </p:sp>
      <p:sp>
        <p:nvSpPr>
          <p:cNvPr id="393" name="Google Shape;393;p19"/>
          <p:cNvSpPr txBox="1"/>
          <p:nvPr/>
        </p:nvSpPr>
        <p:spPr>
          <a:xfrm>
            <a:off x="6821424" y="3749040"/>
            <a:ext cx="80467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E93"/>
                </a:solidFill>
                <a:latin typeface="Calibri"/>
                <a:ea typeface="Calibri"/>
                <a:cs typeface="Calibri"/>
                <a:sym typeface="Calibri"/>
              </a:rPr>
              <a:t>Index 1.05</a:t>
            </a:r>
            <a:endParaRPr/>
          </a:p>
        </p:txBody>
      </p:sp>
      <p:sp>
        <p:nvSpPr>
          <p:cNvPr id="394" name="Google Shape;394;p19"/>
          <p:cNvSpPr txBox="1"/>
          <p:nvPr/>
        </p:nvSpPr>
        <p:spPr>
          <a:xfrm>
            <a:off x="7644383" y="3749040"/>
            <a:ext cx="1024128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R$300k</a:t>
            </a:r>
            <a:endParaRPr/>
          </a:p>
        </p:txBody>
      </p:sp>
      <p:sp>
        <p:nvSpPr>
          <p:cNvPr id="395" name="Google Shape;395;p19"/>
          <p:cNvSpPr/>
          <p:nvPr/>
        </p:nvSpPr>
        <p:spPr>
          <a:xfrm>
            <a:off x="411480" y="4005072"/>
            <a:ext cx="5303520" cy="420624"/>
          </a:xfrm>
          <a:prstGeom prst="roundRect">
            <a:avLst>
              <a:gd fmla="val 16667" name="adj"/>
            </a:avLst>
          </a:prstGeom>
          <a:solidFill>
            <a:srgbClr val="1A2E4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" name="Google Shape;396;p19"/>
          <p:cNvSpPr txBox="1"/>
          <p:nvPr/>
        </p:nvSpPr>
        <p:spPr>
          <a:xfrm>
            <a:off x="502920" y="4041648"/>
            <a:ext cx="51206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00C2CB"/>
                </a:solidFill>
                <a:latin typeface="Calibri"/>
                <a:ea typeface="Calibri"/>
                <a:cs typeface="Calibri"/>
                <a:sym typeface="Calibri"/>
              </a:rPr>
              <a:t>Difference Nov (best) vs. Feb (worst): R$41k/month  ·  R$497k annualized</a:t>
            </a:r>
            <a:endParaRPr/>
          </a:p>
        </p:txBody>
      </p:sp>
      <p:sp>
        <p:nvSpPr>
          <p:cNvPr id="397" name="Google Shape;397;p19"/>
          <p:cNvSpPr/>
          <p:nvPr/>
        </p:nvSpPr>
        <p:spPr>
          <a:xfrm>
            <a:off x="411480" y="4626864"/>
            <a:ext cx="8321040" cy="548640"/>
          </a:xfrm>
          <a:prstGeom prst="roundRect">
            <a:avLst>
              <a:gd fmla="val 16667" name="adj"/>
            </a:avLst>
          </a:prstGeom>
          <a:solidFill>
            <a:srgbClr val="D6EAF8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" name="Google Shape;398;p19"/>
          <p:cNvSpPr txBox="1"/>
          <p:nvPr/>
        </p:nvSpPr>
        <p:spPr>
          <a:xfrm>
            <a:off x="502920" y="4663440"/>
            <a:ext cx="813816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💡  November is the optimal month for Football price adjustment: seasonality 1.35 (Brazilian Championship) reduces churn impact by ~40% vs. February. Implementing the same increase in Feb instead of Nov costs R$497k in annualized revenue.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1B2A"/>
        </a:solidFill>
      </p:bgPr>
    </p:bg>
    <p:spTree>
      <p:nvGrpSpPr>
        <p:cNvPr id="402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p20"/>
          <p:cNvSpPr/>
          <p:nvPr/>
        </p:nvSpPr>
        <p:spPr>
          <a:xfrm>
            <a:off x="6949440" y="-731520"/>
            <a:ext cx="3474720" cy="3474720"/>
          </a:xfrm>
          <a:prstGeom prst="ellipse">
            <a:avLst/>
          </a:prstGeom>
          <a:solidFill>
            <a:srgbClr val="00C2CB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" name="Google Shape;404;p20"/>
          <p:cNvSpPr txBox="1"/>
          <p:nvPr/>
        </p:nvSpPr>
        <p:spPr>
          <a:xfrm>
            <a:off x="411480" y="347472"/>
            <a:ext cx="7772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Pricing Recommendations for the Video+ CMO</a:t>
            </a:r>
            <a:endParaRPr/>
          </a:p>
        </p:txBody>
      </p:sp>
      <p:sp>
        <p:nvSpPr>
          <p:cNvPr id="405" name="Google Shape;405;p20"/>
          <p:cNvSpPr txBox="1"/>
          <p:nvPr/>
        </p:nvSpPr>
        <p:spPr>
          <a:xfrm>
            <a:off x="411480" y="822960"/>
            <a:ext cx="77724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BAFC9"/>
                </a:solidFill>
                <a:latin typeface="Calibri"/>
                <a:ea typeface="Calibri"/>
                <a:cs typeface="Calibri"/>
                <a:sym typeface="Calibri"/>
              </a:rPr>
              <a:t>Summary of the 5 PRISM v2 dimensions — priority actions with estimated revenue impact</a:t>
            </a:r>
            <a:endParaRPr/>
          </a:p>
        </p:txBody>
      </p:sp>
      <p:sp>
        <p:nvSpPr>
          <p:cNvPr id="406" name="Google Shape;406;p20"/>
          <p:cNvSpPr/>
          <p:nvPr/>
        </p:nvSpPr>
        <p:spPr>
          <a:xfrm>
            <a:off x="411480" y="1188720"/>
            <a:ext cx="4160520" cy="969264"/>
          </a:xfrm>
          <a:prstGeom prst="roundRect">
            <a:avLst>
              <a:gd fmla="val 16667" name="adj"/>
            </a:avLst>
          </a:prstGeom>
          <a:solidFill>
            <a:srgbClr val="0F2236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20"/>
          <p:cNvSpPr/>
          <p:nvPr/>
        </p:nvSpPr>
        <p:spPr>
          <a:xfrm>
            <a:off x="521208" y="1298448"/>
            <a:ext cx="420624" cy="420624"/>
          </a:xfrm>
          <a:prstGeom prst="roundRect">
            <a:avLst>
              <a:gd fmla="val 16667" name="adj"/>
            </a:avLst>
          </a:prstGeom>
          <a:solidFill>
            <a:srgbClr val="00C2CB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20"/>
          <p:cNvSpPr txBox="1"/>
          <p:nvPr/>
        </p:nvSpPr>
        <p:spPr>
          <a:xfrm>
            <a:off x="521208" y="1298448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/>
          </a:p>
        </p:txBody>
      </p:sp>
      <p:sp>
        <p:nvSpPr>
          <p:cNvPr id="409" name="Google Shape;409;p20"/>
          <p:cNvSpPr txBox="1"/>
          <p:nvPr/>
        </p:nvSpPr>
        <p:spPr>
          <a:xfrm>
            <a:off x="1014984" y="1280160"/>
            <a:ext cx="28346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Raise Football +12% in November</a:t>
            </a:r>
            <a:endParaRPr/>
          </a:p>
        </p:txBody>
      </p:sp>
      <p:sp>
        <p:nvSpPr>
          <p:cNvPr id="410" name="Google Shape;410;p20"/>
          <p:cNvSpPr/>
          <p:nvPr/>
        </p:nvSpPr>
        <p:spPr>
          <a:xfrm>
            <a:off x="3904487" y="1280160"/>
            <a:ext cx="621792" cy="237744"/>
          </a:xfrm>
          <a:prstGeom prst="roundRect">
            <a:avLst>
              <a:gd fmla="val 16667" name="adj"/>
            </a:avLst>
          </a:prstGeom>
          <a:solidFill>
            <a:srgbClr val="1E844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91425" spcFirstLastPara="1" rIns="91425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+R$3.2M/yr</a:t>
            </a:r>
            <a:endParaRPr/>
          </a:p>
        </p:txBody>
      </p:sp>
      <p:sp>
        <p:nvSpPr>
          <p:cNvPr id="411" name="Google Shape;411;p20"/>
          <p:cNvSpPr txBox="1"/>
          <p:nvPr/>
        </p:nvSpPr>
        <p:spPr>
          <a:xfrm>
            <a:off x="1014984" y="1572768"/>
            <a:ext cx="3474720" cy="475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8BAFC9"/>
                </a:solidFill>
                <a:latin typeface="Calibri"/>
                <a:ea typeface="Calibri"/>
                <a:cs typeface="Calibri"/>
                <a:sym typeface="Calibri"/>
              </a:rPr>
              <a:t>β=−0.36 (strongly inelastic) · OPP R$115 vs. current R$89.90 · Timing: seasonal index 1.35 reduces churn by 40%</a:t>
            </a:r>
            <a:endParaRPr/>
          </a:p>
        </p:txBody>
      </p:sp>
      <p:sp>
        <p:nvSpPr>
          <p:cNvPr id="412" name="Google Shape;412;p20"/>
          <p:cNvSpPr/>
          <p:nvPr/>
        </p:nvSpPr>
        <p:spPr>
          <a:xfrm>
            <a:off x="4782312" y="1188720"/>
            <a:ext cx="4160520" cy="969264"/>
          </a:xfrm>
          <a:prstGeom prst="roundRect">
            <a:avLst>
              <a:gd fmla="val 16667" name="adj"/>
            </a:avLst>
          </a:prstGeom>
          <a:solidFill>
            <a:srgbClr val="0F2236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" name="Google Shape;413;p20"/>
          <p:cNvSpPr/>
          <p:nvPr/>
        </p:nvSpPr>
        <p:spPr>
          <a:xfrm>
            <a:off x="4892040" y="1298448"/>
            <a:ext cx="420624" cy="420624"/>
          </a:xfrm>
          <a:prstGeom prst="roundRect">
            <a:avLst>
              <a:gd fmla="val 16667" name="adj"/>
            </a:avLst>
          </a:prstGeom>
          <a:solidFill>
            <a:srgbClr val="00C2CB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4" name="Google Shape;414;p20"/>
          <p:cNvSpPr txBox="1"/>
          <p:nvPr/>
        </p:nvSpPr>
        <p:spPr>
          <a:xfrm>
            <a:off x="4892040" y="1298448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/>
          </a:p>
        </p:txBody>
      </p:sp>
      <p:sp>
        <p:nvSpPr>
          <p:cNvPr id="415" name="Google Shape;415;p20"/>
          <p:cNvSpPr txBox="1"/>
          <p:nvPr/>
        </p:nvSpPr>
        <p:spPr>
          <a:xfrm>
            <a:off x="5385816" y="1280160"/>
            <a:ext cx="28346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Raise MMA/Combat +8% in November</a:t>
            </a:r>
            <a:endParaRPr/>
          </a:p>
        </p:txBody>
      </p:sp>
      <p:sp>
        <p:nvSpPr>
          <p:cNvPr id="416" name="Google Shape;416;p20"/>
          <p:cNvSpPr/>
          <p:nvPr/>
        </p:nvSpPr>
        <p:spPr>
          <a:xfrm>
            <a:off x="8275320" y="1280160"/>
            <a:ext cx="621792" cy="237744"/>
          </a:xfrm>
          <a:prstGeom prst="roundRect">
            <a:avLst>
              <a:gd fmla="val 16667" name="adj"/>
            </a:avLst>
          </a:prstGeom>
          <a:solidFill>
            <a:srgbClr val="1E844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91425" spcFirstLastPara="1" rIns="91425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+R$0.9M/yr</a:t>
            </a:r>
            <a:endParaRPr/>
          </a:p>
        </p:txBody>
      </p:sp>
      <p:sp>
        <p:nvSpPr>
          <p:cNvPr id="417" name="Google Shape;417;p20"/>
          <p:cNvSpPr txBox="1"/>
          <p:nvPr/>
        </p:nvSpPr>
        <p:spPr>
          <a:xfrm>
            <a:off x="5385816" y="1572768"/>
            <a:ext cx="3474720" cy="475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8BAFC9"/>
                </a:solidFill>
                <a:latin typeface="Calibri"/>
                <a:ea typeface="Calibri"/>
                <a:cs typeface="Calibri"/>
                <a:sym typeface="Calibri"/>
              </a:rPr>
              <a:t>β=−0.54 · WTP OPP R$82 vs. current R$64.90 · Implement alongside Football leveraging seasonal timing</a:t>
            </a:r>
            <a:endParaRPr/>
          </a:p>
        </p:txBody>
      </p:sp>
      <p:sp>
        <p:nvSpPr>
          <p:cNvPr id="418" name="Google Shape;418;p20"/>
          <p:cNvSpPr/>
          <p:nvPr/>
        </p:nvSpPr>
        <p:spPr>
          <a:xfrm>
            <a:off x="411480" y="2231136"/>
            <a:ext cx="4160520" cy="969264"/>
          </a:xfrm>
          <a:prstGeom prst="roundRect">
            <a:avLst>
              <a:gd fmla="val 16667" name="adj"/>
            </a:avLst>
          </a:prstGeom>
          <a:solidFill>
            <a:srgbClr val="0F2236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" name="Google Shape;419;p20"/>
          <p:cNvSpPr/>
          <p:nvPr/>
        </p:nvSpPr>
        <p:spPr>
          <a:xfrm>
            <a:off x="521208" y="2340864"/>
            <a:ext cx="420624" cy="420624"/>
          </a:xfrm>
          <a:prstGeom prst="roundRect">
            <a:avLst>
              <a:gd fmla="val 16667" name="adj"/>
            </a:avLst>
          </a:prstGeom>
          <a:solidFill>
            <a:srgbClr val="00C2CB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" name="Google Shape;420;p20"/>
          <p:cNvSpPr txBox="1"/>
          <p:nvPr/>
        </p:nvSpPr>
        <p:spPr>
          <a:xfrm>
            <a:off x="521208" y="2340864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/>
          </a:p>
        </p:txBody>
      </p:sp>
      <p:sp>
        <p:nvSpPr>
          <p:cNvPr id="421" name="Google Shape;421;p20"/>
          <p:cNvSpPr txBox="1"/>
          <p:nvPr/>
        </p:nvSpPr>
        <p:spPr>
          <a:xfrm>
            <a:off x="1014984" y="2322576"/>
            <a:ext cx="28346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DO NOT raise Series/Films price</a:t>
            </a:r>
            <a:endParaRPr/>
          </a:p>
        </p:txBody>
      </p:sp>
      <p:sp>
        <p:nvSpPr>
          <p:cNvPr id="422" name="Google Shape;422;p20"/>
          <p:cNvSpPr/>
          <p:nvPr/>
        </p:nvSpPr>
        <p:spPr>
          <a:xfrm>
            <a:off x="3904487" y="2322576"/>
            <a:ext cx="621792" cy="237744"/>
          </a:xfrm>
          <a:prstGeom prst="roundRect">
            <a:avLst>
              <a:gd fmla="val 16667" name="adj"/>
            </a:avLst>
          </a:prstGeom>
          <a:solidFill>
            <a:srgbClr val="E67E2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91425" spcFirstLastPara="1" rIns="91425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Protect base</a:t>
            </a:r>
            <a:endParaRPr/>
          </a:p>
        </p:txBody>
      </p:sp>
      <p:sp>
        <p:nvSpPr>
          <p:cNvPr id="423" name="Google Shape;423;p20"/>
          <p:cNvSpPr txBox="1"/>
          <p:nvPr/>
        </p:nvSpPr>
        <p:spPr>
          <a:xfrm>
            <a:off x="1014984" y="2615184"/>
            <a:ext cx="3474720" cy="475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8BAFC9"/>
                </a:solidFill>
                <a:latin typeface="Calibri"/>
                <a:ea typeface="Calibri"/>
                <a:cs typeface="Calibri"/>
                <a:sym typeface="Calibri"/>
              </a:rPr>
              <a:t>β=−1.35 (elastic) · Any price increase REDUCES revenue · Focus: retention and cross-sell to Bundle Plus</a:t>
            </a:r>
            <a:endParaRPr/>
          </a:p>
        </p:txBody>
      </p:sp>
      <p:sp>
        <p:nvSpPr>
          <p:cNvPr id="424" name="Google Shape;424;p20"/>
          <p:cNvSpPr/>
          <p:nvPr/>
        </p:nvSpPr>
        <p:spPr>
          <a:xfrm>
            <a:off x="4782312" y="2231136"/>
            <a:ext cx="4160520" cy="969264"/>
          </a:xfrm>
          <a:prstGeom prst="roundRect">
            <a:avLst>
              <a:gd fmla="val 16667" name="adj"/>
            </a:avLst>
          </a:prstGeom>
          <a:solidFill>
            <a:srgbClr val="0F2236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" name="Google Shape;425;p20"/>
          <p:cNvSpPr/>
          <p:nvPr/>
        </p:nvSpPr>
        <p:spPr>
          <a:xfrm>
            <a:off x="4892040" y="2340864"/>
            <a:ext cx="420624" cy="420624"/>
          </a:xfrm>
          <a:prstGeom prst="roundRect">
            <a:avLst>
              <a:gd fmla="val 16667" name="adj"/>
            </a:avLst>
          </a:prstGeom>
          <a:solidFill>
            <a:srgbClr val="00C2CB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6" name="Google Shape;426;p20"/>
          <p:cNvSpPr txBox="1"/>
          <p:nvPr/>
        </p:nvSpPr>
        <p:spPr>
          <a:xfrm>
            <a:off x="4892040" y="2340864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04</a:t>
            </a:r>
            <a:endParaRPr/>
          </a:p>
        </p:txBody>
      </p:sp>
      <p:sp>
        <p:nvSpPr>
          <p:cNvPr id="427" name="Google Shape;427;p20"/>
          <p:cNvSpPr txBox="1"/>
          <p:nvPr/>
        </p:nvSpPr>
        <p:spPr>
          <a:xfrm>
            <a:off x="5385816" y="2322576"/>
            <a:ext cx="28346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Price Bundle Plus at R$185</a:t>
            </a:r>
            <a:endParaRPr/>
          </a:p>
        </p:txBody>
      </p:sp>
      <p:sp>
        <p:nvSpPr>
          <p:cNvPr id="428" name="Google Shape;428;p20"/>
          <p:cNvSpPr/>
          <p:nvPr/>
        </p:nvSpPr>
        <p:spPr>
          <a:xfrm>
            <a:off x="8275320" y="2322576"/>
            <a:ext cx="621792" cy="237744"/>
          </a:xfrm>
          <a:prstGeom prst="roundRect">
            <a:avLst>
              <a:gd fmla="val 16667" name="adj"/>
            </a:avLst>
          </a:prstGeom>
          <a:solidFill>
            <a:srgbClr val="1E844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91425" spcFirstLastPara="1" rIns="91425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+R$0.6M/yr</a:t>
            </a:r>
            <a:endParaRPr/>
          </a:p>
        </p:txBody>
      </p:sp>
      <p:sp>
        <p:nvSpPr>
          <p:cNvPr id="429" name="Google Shape;429;p20"/>
          <p:cNvSpPr txBox="1"/>
          <p:nvPr/>
        </p:nvSpPr>
        <p:spPr>
          <a:xfrm>
            <a:off x="5385816" y="2615184"/>
            <a:ext cx="3474720" cy="475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8BAFC9"/>
                </a:solidFill>
                <a:latin typeface="Calibri"/>
                <a:ea typeface="Calibri"/>
                <a:cs typeface="Calibri"/>
                <a:sym typeface="Calibri"/>
              </a:rPr>
              <a:t>WTP OPP R$185 vs. current R$179.90 · Football migration channel (ε=+0.20) · Soft increase, low risk</a:t>
            </a:r>
            <a:endParaRPr/>
          </a:p>
        </p:txBody>
      </p:sp>
      <p:sp>
        <p:nvSpPr>
          <p:cNvPr id="430" name="Google Shape;430;p20"/>
          <p:cNvSpPr/>
          <p:nvPr/>
        </p:nvSpPr>
        <p:spPr>
          <a:xfrm>
            <a:off x="411480" y="3273552"/>
            <a:ext cx="4160520" cy="969264"/>
          </a:xfrm>
          <a:prstGeom prst="roundRect">
            <a:avLst>
              <a:gd fmla="val 16667" name="adj"/>
            </a:avLst>
          </a:prstGeom>
          <a:solidFill>
            <a:srgbClr val="0F2236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" name="Google Shape;431;p20"/>
          <p:cNvSpPr/>
          <p:nvPr/>
        </p:nvSpPr>
        <p:spPr>
          <a:xfrm>
            <a:off x="521208" y="3383280"/>
            <a:ext cx="420624" cy="420624"/>
          </a:xfrm>
          <a:prstGeom prst="roundRect">
            <a:avLst>
              <a:gd fmla="val 16667" name="adj"/>
            </a:avLst>
          </a:prstGeom>
          <a:solidFill>
            <a:srgbClr val="00C2CB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2" name="Google Shape;432;p20"/>
          <p:cNvSpPr txBox="1"/>
          <p:nvPr/>
        </p:nvSpPr>
        <p:spPr>
          <a:xfrm>
            <a:off x="521208" y="3383280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05</a:t>
            </a:r>
            <a:endParaRPr/>
          </a:p>
        </p:txBody>
      </p:sp>
      <p:sp>
        <p:nvSpPr>
          <p:cNvPr id="433" name="Google Shape;433;p20"/>
          <p:cNvSpPr txBox="1"/>
          <p:nvPr/>
        </p:nvSpPr>
        <p:spPr>
          <a:xfrm>
            <a:off x="1014984" y="3364992"/>
            <a:ext cx="28346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Model surgical retention for Kids</a:t>
            </a:r>
            <a:endParaRPr/>
          </a:p>
        </p:txBody>
      </p:sp>
      <p:sp>
        <p:nvSpPr>
          <p:cNvPr id="434" name="Google Shape;434;p20"/>
          <p:cNvSpPr/>
          <p:nvPr/>
        </p:nvSpPr>
        <p:spPr>
          <a:xfrm>
            <a:off x="3904487" y="3364992"/>
            <a:ext cx="621792" cy="237744"/>
          </a:xfrm>
          <a:prstGeom prst="roundRect">
            <a:avLst>
              <a:gd fmla="val 16667" name="adj"/>
            </a:avLst>
          </a:prstGeom>
          <a:solidFill>
            <a:srgbClr val="00C2CB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91425" spcFirstLastPara="1" rIns="91425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−Churn 15%</a:t>
            </a:r>
            <a:endParaRPr/>
          </a:p>
        </p:txBody>
      </p:sp>
      <p:sp>
        <p:nvSpPr>
          <p:cNvPr id="435" name="Google Shape;435;p20"/>
          <p:cNvSpPr txBox="1"/>
          <p:nvPr/>
        </p:nvSpPr>
        <p:spPr>
          <a:xfrm>
            <a:off x="1014984" y="3657600"/>
            <a:ext cx="3474720" cy="475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8BAFC9"/>
                </a:solidFill>
                <a:latin typeface="Calibri"/>
                <a:ea typeface="Calibri"/>
                <a:cs typeface="Calibri"/>
                <a:sym typeface="Calibri"/>
              </a:rPr>
              <a:t>Wide 95% CI (±0.66) · High uncertainty · Retention discount only for high churn-propensity users</a:t>
            </a:r>
            <a:endParaRPr/>
          </a:p>
        </p:txBody>
      </p:sp>
      <p:sp>
        <p:nvSpPr>
          <p:cNvPr id="436" name="Google Shape;436;p20"/>
          <p:cNvSpPr/>
          <p:nvPr/>
        </p:nvSpPr>
        <p:spPr>
          <a:xfrm>
            <a:off x="4782312" y="3273552"/>
            <a:ext cx="4160520" cy="969264"/>
          </a:xfrm>
          <a:prstGeom prst="roundRect">
            <a:avLst>
              <a:gd fmla="val 16667" name="adj"/>
            </a:avLst>
          </a:prstGeom>
          <a:solidFill>
            <a:srgbClr val="0F2236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7" name="Google Shape;437;p20"/>
          <p:cNvSpPr/>
          <p:nvPr/>
        </p:nvSpPr>
        <p:spPr>
          <a:xfrm>
            <a:off x="4892040" y="3383280"/>
            <a:ext cx="420624" cy="420624"/>
          </a:xfrm>
          <a:prstGeom prst="roundRect">
            <a:avLst>
              <a:gd fmla="val 16667" name="adj"/>
            </a:avLst>
          </a:prstGeom>
          <a:solidFill>
            <a:srgbClr val="00C2CB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" name="Google Shape;438;p20"/>
          <p:cNvSpPr txBox="1"/>
          <p:nvPr/>
        </p:nvSpPr>
        <p:spPr>
          <a:xfrm>
            <a:off x="4892040" y="3383280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06</a:t>
            </a:r>
            <a:endParaRPr/>
          </a:p>
        </p:txBody>
      </p:sp>
      <p:sp>
        <p:nvSpPr>
          <p:cNvPr id="439" name="Google Shape;439;p20"/>
          <p:cNvSpPr txBox="1"/>
          <p:nvPr/>
        </p:nvSpPr>
        <p:spPr>
          <a:xfrm>
            <a:off x="5385816" y="3364992"/>
            <a:ext cx="28346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Implement quarterly Van Westendorp survey</a:t>
            </a:r>
            <a:endParaRPr/>
          </a:p>
        </p:txBody>
      </p:sp>
      <p:sp>
        <p:nvSpPr>
          <p:cNvPr id="440" name="Google Shape;440;p20"/>
          <p:cNvSpPr/>
          <p:nvPr/>
        </p:nvSpPr>
        <p:spPr>
          <a:xfrm>
            <a:off x="8275320" y="3364992"/>
            <a:ext cx="621792" cy="237744"/>
          </a:xfrm>
          <a:prstGeom prst="roundRect">
            <a:avLst>
              <a:gd fmla="val 16667" name="adj"/>
            </a:avLst>
          </a:prstGeom>
          <a:solidFill>
            <a:srgbClr val="8BAFC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91425" spcFirstLastPara="1" rIns="91425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Model upgrade</a:t>
            </a:r>
            <a:endParaRPr/>
          </a:p>
        </p:txBody>
      </p:sp>
      <p:sp>
        <p:nvSpPr>
          <p:cNvPr id="441" name="Google Shape;441;p20"/>
          <p:cNvSpPr txBox="1"/>
          <p:nvPr/>
        </p:nvSpPr>
        <p:spPr>
          <a:xfrm>
            <a:off x="5385816" y="3657600"/>
            <a:ext cx="3474720" cy="475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8BAFC9"/>
                </a:solidFill>
                <a:latin typeface="Calibri"/>
                <a:ea typeface="Calibri"/>
                <a:cs typeface="Calibri"/>
                <a:sym typeface="Calibri"/>
              </a:rPr>
              <a:t>Current OPP estimated by proxy · Real survey with n≥400 per package raises CI confidence to 90%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7FA"/>
        </a:solidFill>
      </p:bgPr>
    </p:bg>
    <p:spTree>
      <p:nvGrpSpPr>
        <p:cNvPr id="445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p21"/>
          <p:cNvSpPr/>
          <p:nvPr/>
        </p:nvSpPr>
        <p:spPr>
          <a:xfrm>
            <a:off x="411480" y="109728"/>
            <a:ext cx="1920240" cy="265176"/>
          </a:xfrm>
          <a:prstGeom prst="roundRect">
            <a:avLst>
              <a:gd fmla="val 16667" name="adj"/>
            </a:avLst>
          </a:prstGeom>
          <a:solidFill>
            <a:srgbClr val="00C2CB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91425" spcFirstLastPara="1" rIns="91425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PRICING ROADMAP</a:t>
            </a:r>
            <a:endParaRPr/>
          </a:p>
        </p:txBody>
      </p:sp>
      <p:sp>
        <p:nvSpPr>
          <p:cNvPr id="447" name="Google Shape;447;p21"/>
          <p:cNvSpPr txBox="1"/>
          <p:nvPr/>
        </p:nvSpPr>
        <p:spPr>
          <a:xfrm>
            <a:off x="411480" y="475488"/>
            <a:ext cx="83210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Implementation plan — Q4 2026 to Q2 2027</a:t>
            </a:r>
            <a:endParaRPr/>
          </a:p>
        </p:txBody>
      </p:sp>
      <p:sp>
        <p:nvSpPr>
          <p:cNvPr id="448" name="Google Shape;448;p21"/>
          <p:cNvSpPr txBox="1"/>
          <p:nvPr/>
        </p:nvSpPr>
        <p:spPr>
          <a:xfrm>
            <a:off x="411480" y="969264"/>
            <a:ext cx="83210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B7E93"/>
                </a:solidFill>
                <a:latin typeface="Calibri"/>
                <a:ea typeface="Calibri"/>
                <a:cs typeface="Calibri"/>
                <a:sym typeface="Calibri"/>
              </a:rPr>
              <a:t>Adjustment sequence calibrated by elasticity, WTP and seasonal timing · Estimated cumulative impact: +R$5.2M/year</a:t>
            </a:r>
            <a:endParaRPr/>
          </a:p>
        </p:txBody>
      </p:sp>
      <p:sp>
        <p:nvSpPr>
          <p:cNvPr id="449" name="Google Shape;449;p21"/>
          <p:cNvSpPr/>
          <p:nvPr/>
        </p:nvSpPr>
        <p:spPr>
          <a:xfrm>
            <a:off x="411480" y="1316736"/>
            <a:ext cx="2670048" cy="566928"/>
          </a:xfrm>
          <a:prstGeom prst="roundRect">
            <a:avLst>
              <a:gd fmla="val 16667" name="adj"/>
            </a:avLst>
          </a:prstGeom>
          <a:solidFill>
            <a:srgbClr val="00C2CB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0" name="Google Shape;450;p21"/>
          <p:cNvSpPr txBox="1"/>
          <p:nvPr/>
        </p:nvSpPr>
        <p:spPr>
          <a:xfrm>
            <a:off x="411480" y="1335024"/>
            <a:ext cx="267004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Q4 2026</a:t>
            </a:r>
            <a:endParaRPr/>
          </a:p>
        </p:txBody>
      </p:sp>
      <p:sp>
        <p:nvSpPr>
          <p:cNvPr id="451" name="Google Shape;451;p21"/>
          <p:cNvSpPr txBox="1"/>
          <p:nvPr/>
        </p:nvSpPr>
        <p:spPr>
          <a:xfrm>
            <a:off x="411480" y="1591056"/>
            <a:ext cx="2670048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Phase 1 — Sports Pricing</a:t>
            </a:r>
            <a:endParaRPr/>
          </a:p>
        </p:txBody>
      </p:sp>
      <p:sp>
        <p:nvSpPr>
          <p:cNvPr id="452" name="Google Shape;452;p21"/>
          <p:cNvSpPr/>
          <p:nvPr/>
        </p:nvSpPr>
        <p:spPr>
          <a:xfrm>
            <a:off x="411480" y="1920240"/>
            <a:ext cx="2670048" cy="2798064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3" name="Google Shape;453;p21"/>
          <p:cNvSpPr txBox="1"/>
          <p:nvPr/>
        </p:nvSpPr>
        <p:spPr>
          <a:xfrm>
            <a:off x="548640" y="1993392"/>
            <a:ext cx="2395728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→  Nov: Football +12% → R$100.69</a:t>
            </a:r>
            <a:endParaRPr/>
          </a:p>
        </p:txBody>
      </p:sp>
      <p:sp>
        <p:nvSpPr>
          <p:cNvPr id="454" name="Google Shape;454;p21"/>
          <p:cNvSpPr txBox="1"/>
          <p:nvPr/>
        </p:nvSpPr>
        <p:spPr>
          <a:xfrm>
            <a:off x="548640" y="2395728"/>
            <a:ext cx="2395728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→  Nov: MMA +8% → R$70.09</a:t>
            </a:r>
            <a:endParaRPr/>
          </a:p>
        </p:txBody>
      </p:sp>
      <p:sp>
        <p:nvSpPr>
          <p:cNvPr id="455" name="Google Shape;455;p21"/>
          <p:cNvSpPr txBox="1"/>
          <p:nvPr/>
        </p:nvSpPr>
        <p:spPr>
          <a:xfrm>
            <a:off x="548640" y="2798064"/>
            <a:ext cx="2395728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→  Nov: Bundle Plus +3% → R$185.27</a:t>
            </a:r>
            <a:endParaRPr/>
          </a:p>
        </p:txBody>
      </p:sp>
      <p:sp>
        <p:nvSpPr>
          <p:cNvPr id="456" name="Google Shape;456;p21"/>
          <p:cNvSpPr txBox="1"/>
          <p:nvPr/>
        </p:nvSpPr>
        <p:spPr>
          <a:xfrm>
            <a:off x="548640" y="3200400"/>
            <a:ext cx="2395728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50" u="none" cap="none" strike="noStrike">
                <a:solidFill>
                  <a:srgbClr val="00C2CB"/>
                </a:solidFill>
                <a:latin typeface="Calibri"/>
                <a:ea typeface="Calibri"/>
                <a:cs typeface="Calibri"/>
                <a:sym typeface="Calibri"/>
              </a:rPr>
              <a:t>→  Estimated impact: +R$4.1M/year</a:t>
            </a:r>
            <a:endParaRPr/>
          </a:p>
        </p:txBody>
      </p:sp>
      <p:sp>
        <p:nvSpPr>
          <p:cNvPr id="457" name="Google Shape;457;p21"/>
          <p:cNvSpPr/>
          <p:nvPr/>
        </p:nvSpPr>
        <p:spPr>
          <a:xfrm>
            <a:off x="3227832" y="1316736"/>
            <a:ext cx="2670048" cy="566928"/>
          </a:xfrm>
          <a:prstGeom prst="roundRect">
            <a:avLst>
              <a:gd fmla="val 16667" name="adj"/>
            </a:avLst>
          </a:prstGeom>
          <a:solidFill>
            <a:srgbClr val="E67E2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8" name="Google Shape;458;p21"/>
          <p:cNvSpPr txBox="1"/>
          <p:nvPr/>
        </p:nvSpPr>
        <p:spPr>
          <a:xfrm>
            <a:off x="3227832" y="1335024"/>
            <a:ext cx="267004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Q1 2027</a:t>
            </a:r>
            <a:endParaRPr/>
          </a:p>
        </p:txBody>
      </p:sp>
      <p:sp>
        <p:nvSpPr>
          <p:cNvPr id="459" name="Google Shape;459;p21"/>
          <p:cNvSpPr txBox="1"/>
          <p:nvPr/>
        </p:nvSpPr>
        <p:spPr>
          <a:xfrm>
            <a:off x="3227832" y="1591056"/>
            <a:ext cx="2670048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Phase 2 — Smart Retention</a:t>
            </a:r>
            <a:endParaRPr/>
          </a:p>
        </p:txBody>
      </p:sp>
      <p:sp>
        <p:nvSpPr>
          <p:cNvPr id="460" name="Google Shape;460;p21"/>
          <p:cNvSpPr/>
          <p:nvPr/>
        </p:nvSpPr>
        <p:spPr>
          <a:xfrm>
            <a:off x="3227832" y="1920240"/>
            <a:ext cx="2670048" cy="2798064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1" name="Google Shape;461;p21"/>
          <p:cNvSpPr txBox="1"/>
          <p:nvPr/>
        </p:nvSpPr>
        <p:spPr>
          <a:xfrm>
            <a:off x="3364992" y="1993392"/>
            <a:ext cx="2395728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→  Churn model + propensity score by subscriber</a:t>
            </a:r>
            <a:endParaRPr/>
          </a:p>
        </p:txBody>
      </p:sp>
      <p:sp>
        <p:nvSpPr>
          <p:cNvPr id="462" name="Google Shape;462;p21"/>
          <p:cNvSpPr txBox="1"/>
          <p:nvPr/>
        </p:nvSpPr>
        <p:spPr>
          <a:xfrm>
            <a:off x="3364992" y="2395728"/>
            <a:ext cx="2395728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→  Surgical discount for Kids (high elasticity)</a:t>
            </a:r>
            <a:endParaRPr/>
          </a:p>
        </p:txBody>
      </p:sp>
      <p:sp>
        <p:nvSpPr>
          <p:cNvPr id="463" name="Google Shape;463;p21"/>
          <p:cNvSpPr txBox="1"/>
          <p:nvPr/>
        </p:nvSpPr>
        <p:spPr>
          <a:xfrm>
            <a:off x="3364992" y="2798064"/>
            <a:ext cx="2395728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→  Cross-sell Series → Bundle Plus (ε=−0.20)</a:t>
            </a:r>
            <a:endParaRPr/>
          </a:p>
        </p:txBody>
      </p:sp>
      <p:sp>
        <p:nvSpPr>
          <p:cNvPr id="464" name="Google Shape;464;p21"/>
          <p:cNvSpPr txBox="1"/>
          <p:nvPr/>
        </p:nvSpPr>
        <p:spPr>
          <a:xfrm>
            <a:off x="3364992" y="3200400"/>
            <a:ext cx="2395728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→  Van Westendorp survey — n≥400 per package</a:t>
            </a:r>
            <a:endParaRPr/>
          </a:p>
        </p:txBody>
      </p:sp>
      <p:sp>
        <p:nvSpPr>
          <p:cNvPr id="465" name="Google Shape;465;p21"/>
          <p:cNvSpPr/>
          <p:nvPr/>
        </p:nvSpPr>
        <p:spPr>
          <a:xfrm>
            <a:off x="6044184" y="1316736"/>
            <a:ext cx="2670048" cy="566928"/>
          </a:xfrm>
          <a:prstGeom prst="roundRect">
            <a:avLst>
              <a:gd fmla="val 16667" name="adj"/>
            </a:avLst>
          </a:prstGeom>
          <a:solidFill>
            <a:srgbClr val="6C3483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6" name="Google Shape;466;p21"/>
          <p:cNvSpPr txBox="1"/>
          <p:nvPr/>
        </p:nvSpPr>
        <p:spPr>
          <a:xfrm>
            <a:off x="6044184" y="1335024"/>
            <a:ext cx="267004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Q2 2027</a:t>
            </a:r>
            <a:endParaRPr/>
          </a:p>
        </p:txBody>
      </p:sp>
      <p:sp>
        <p:nvSpPr>
          <p:cNvPr id="467" name="Google Shape;467;p21"/>
          <p:cNvSpPr txBox="1"/>
          <p:nvPr/>
        </p:nvSpPr>
        <p:spPr>
          <a:xfrm>
            <a:off x="6044184" y="1591056"/>
            <a:ext cx="2670048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Phase 3 — Dynamic Pricing</a:t>
            </a:r>
            <a:endParaRPr/>
          </a:p>
        </p:txBody>
      </p:sp>
      <p:sp>
        <p:nvSpPr>
          <p:cNvPr id="468" name="Google Shape;468;p21"/>
          <p:cNvSpPr/>
          <p:nvPr/>
        </p:nvSpPr>
        <p:spPr>
          <a:xfrm>
            <a:off x="6044184" y="1920240"/>
            <a:ext cx="2670048" cy="2798064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21"/>
          <p:cNvSpPr txBox="1"/>
          <p:nvPr/>
        </p:nvSpPr>
        <p:spPr>
          <a:xfrm>
            <a:off x="6181344" y="1993392"/>
            <a:ext cx="2395728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6C3483"/>
                </a:solidFill>
                <a:latin typeface="Calibri"/>
                <a:ea typeface="Calibri"/>
                <a:cs typeface="Calibri"/>
                <a:sym typeface="Calibri"/>
              </a:rPr>
              <a:t>→  SURE: estimate cross-price elasticity from data</a:t>
            </a:r>
            <a:endParaRPr/>
          </a:p>
        </p:txBody>
      </p:sp>
      <p:sp>
        <p:nvSpPr>
          <p:cNvPr id="470" name="Google Shape;470;p21"/>
          <p:cNvSpPr txBox="1"/>
          <p:nvPr/>
        </p:nvSpPr>
        <p:spPr>
          <a:xfrm>
            <a:off x="6181344" y="2395728"/>
            <a:ext cx="2395728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→  Latent model: segment by individual elasticity</a:t>
            </a:r>
            <a:endParaRPr/>
          </a:p>
        </p:txBody>
      </p:sp>
      <p:sp>
        <p:nvSpPr>
          <p:cNvPr id="471" name="Google Shape;471;p21"/>
          <p:cNvSpPr txBox="1"/>
          <p:nvPr/>
        </p:nvSpPr>
        <p:spPr>
          <a:xfrm>
            <a:off x="6181344" y="2798064"/>
            <a:ext cx="2395728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→  Price A/B test in 2 geo-pilot markets</a:t>
            </a:r>
            <a:endParaRPr/>
          </a:p>
        </p:txBody>
      </p:sp>
      <p:sp>
        <p:nvSpPr>
          <p:cNvPr id="472" name="Google Shape;472;p21"/>
          <p:cNvSpPr txBox="1"/>
          <p:nvPr/>
        </p:nvSpPr>
        <p:spPr>
          <a:xfrm>
            <a:off x="6181344" y="3200400"/>
            <a:ext cx="2395728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6C3483"/>
                </a:solidFill>
                <a:latin typeface="Calibri"/>
                <a:ea typeface="Calibri"/>
                <a:cs typeface="Calibri"/>
                <a:sym typeface="Calibri"/>
              </a:rPr>
              <a:t>→  PRISM v3: Bayesian hierarchical model (PyMC)</a:t>
            </a:r>
            <a:endParaRPr/>
          </a:p>
        </p:txBody>
      </p:sp>
      <p:sp>
        <p:nvSpPr>
          <p:cNvPr id="473" name="Google Shape;473;p21"/>
          <p:cNvSpPr/>
          <p:nvPr/>
        </p:nvSpPr>
        <p:spPr>
          <a:xfrm>
            <a:off x="411480" y="4809744"/>
            <a:ext cx="8321040" cy="475488"/>
          </a:xfrm>
          <a:prstGeom prst="roundRect">
            <a:avLst>
              <a:gd fmla="val 16667" name="adj"/>
            </a:avLst>
          </a:prstGeom>
          <a:solidFill>
            <a:srgbClr val="1A2E4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4" name="Google Shape;474;p21"/>
          <p:cNvSpPr txBox="1"/>
          <p:nvPr/>
        </p:nvSpPr>
        <p:spPr>
          <a:xfrm>
            <a:off x="502920" y="4846320"/>
            <a:ext cx="813816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00C2CB"/>
                </a:solidFill>
                <a:latin typeface="Calibri"/>
                <a:ea typeface="Calibri"/>
                <a:cs typeface="Calibri"/>
                <a:sym typeface="Calibri"/>
              </a:rPr>
              <a:t>Estimated cumulative impact 12 months:  +R$5.2M/year incremental revenue  ·  Basis: OLS elasticities + WTP survey + modeled cannibalization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1B2A"/>
        </a:solidFill>
      </p:bgPr>
    </p:bg>
    <p:spTree>
      <p:nvGrpSpPr>
        <p:cNvPr id="478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Google Shape;479;p22"/>
          <p:cNvSpPr/>
          <p:nvPr/>
        </p:nvSpPr>
        <p:spPr>
          <a:xfrm>
            <a:off x="6225758" y="-1072504"/>
            <a:ext cx="4059798" cy="3948198"/>
          </a:xfrm>
          <a:prstGeom prst="ellipse">
            <a:avLst/>
          </a:prstGeom>
          <a:solidFill>
            <a:srgbClr val="00C2CB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0" name="Google Shape;480;p22"/>
          <p:cNvSpPr/>
          <p:nvPr/>
        </p:nvSpPr>
        <p:spPr>
          <a:xfrm>
            <a:off x="5878286" y="-715156"/>
            <a:ext cx="3448594" cy="3398818"/>
          </a:xfrm>
          <a:prstGeom prst="ellipse">
            <a:avLst/>
          </a:prstGeom>
          <a:solidFill>
            <a:srgbClr val="02E8C8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1" name="Google Shape;481;p22"/>
          <p:cNvSpPr txBox="1"/>
          <p:nvPr/>
        </p:nvSpPr>
        <p:spPr>
          <a:xfrm>
            <a:off x="731520" y="141630"/>
            <a:ext cx="32004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PRISM</a:t>
            </a:r>
            <a:endParaRPr/>
          </a:p>
        </p:txBody>
      </p:sp>
      <p:sp>
        <p:nvSpPr>
          <p:cNvPr id="482" name="Google Shape;482;p22"/>
          <p:cNvSpPr txBox="1"/>
          <p:nvPr/>
        </p:nvSpPr>
        <p:spPr>
          <a:xfrm>
            <a:off x="3493008" y="306222"/>
            <a:ext cx="1463040" cy="4206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00C2CB"/>
                </a:solidFill>
                <a:latin typeface="Calibri"/>
                <a:ea typeface="Calibri"/>
                <a:cs typeface="Calibri"/>
                <a:sym typeface="Calibri"/>
              </a:rPr>
              <a:t>v2.0</a:t>
            </a:r>
            <a:endParaRPr/>
          </a:p>
        </p:txBody>
      </p:sp>
      <p:sp>
        <p:nvSpPr>
          <p:cNvPr id="483" name="Google Shape;483;p22"/>
          <p:cNvSpPr txBox="1"/>
          <p:nvPr/>
        </p:nvSpPr>
        <p:spPr>
          <a:xfrm>
            <a:off x="731520" y="1129181"/>
            <a:ext cx="5486400" cy="6217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00C2CB"/>
                </a:solidFill>
                <a:latin typeface="Calibri"/>
                <a:ea typeface="Calibri"/>
                <a:cs typeface="Calibri"/>
                <a:sym typeface="Calibri"/>
              </a:rPr>
              <a:t>Pricing &amp; Revenue Intelligence</a:t>
            </a:r>
            <a:br>
              <a:rPr b="0" i="0" lang="en-US" sz="1700" u="none" cap="none" strike="noStrike">
                <a:solidFill>
                  <a:srgbClr val="00C2CB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700" u="none" cap="none" strike="noStrike">
                <a:solidFill>
                  <a:srgbClr val="00C2CB"/>
                </a:solidFill>
                <a:latin typeface="Calibri"/>
                <a:ea typeface="Calibri"/>
                <a:cs typeface="Calibri"/>
                <a:sym typeface="Calibri"/>
              </a:rPr>
              <a:t>for Streaming Markets</a:t>
            </a:r>
            <a:endParaRPr/>
          </a:p>
        </p:txBody>
      </p:sp>
      <p:sp>
        <p:nvSpPr>
          <p:cNvPr id="484" name="Google Shape;484;p22"/>
          <p:cNvSpPr txBox="1"/>
          <p:nvPr/>
        </p:nvSpPr>
        <p:spPr>
          <a:xfrm>
            <a:off x="731520" y="206187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Next steps</a:t>
            </a:r>
            <a:endParaRPr/>
          </a:p>
        </p:txBody>
      </p:sp>
      <p:sp>
        <p:nvSpPr>
          <p:cNvPr id="485" name="Google Shape;485;p22"/>
          <p:cNvSpPr txBox="1"/>
          <p:nvPr/>
        </p:nvSpPr>
        <p:spPr>
          <a:xfrm>
            <a:off x="731520" y="240934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BAFC9"/>
                </a:solidFill>
                <a:latin typeface="Calibri"/>
                <a:ea typeface="Calibri"/>
                <a:cs typeface="Calibri"/>
                <a:sym typeface="Calibri"/>
              </a:rPr>
              <a:t>→  Van Westendorp survey — n≥400 per package (Q4 2026)</a:t>
            </a:r>
            <a:endParaRPr/>
          </a:p>
        </p:txBody>
      </p:sp>
      <p:sp>
        <p:nvSpPr>
          <p:cNvPr id="486" name="Google Shape;486;p22"/>
          <p:cNvSpPr txBox="1"/>
          <p:nvPr/>
        </p:nvSpPr>
        <p:spPr>
          <a:xfrm>
            <a:off x="731520" y="2720238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BAFC9"/>
                </a:solidFill>
                <a:latin typeface="Calibri"/>
                <a:ea typeface="Calibri"/>
                <a:cs typeface="Calibri"/>
                <a:sym typeface="Calibri"/>
              </a:rPr>
              <a:t>→  Football +12% price increase in November (execution)</a:t>
            </a:r>
            <a:endParaRPr/>
          </a:p>
        </p:txBody>
      </p:sp>
      <p:sp>
        <p:nvSpPr>
          <p:cNvPr id="487" name="Google Shape;487;p22"/>
          <p:cNvSpPr txBox="1"/>
          <p:nvPr/>
        </p:nvSpPr>
        <p:spPr>
          <a:xfrm>
            <a:off x="731520" y="3031134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BAFC9"/>
                </a:solidFill>
                <a:latin typeface="Calibri"/>
                <a:ea typeface="Calibri"/>
                <a:cs typeface="Calibri"/>
                <a:sym typeface="Calibri"/>
              </a:rPr>
              <a:t>→  SURE estimation for real cross-price elasticities</a:t>
            </a:r>
            <a:endParaRPr/>
          </a:p>
        </p:txBody>
      </p:sp>
      <p:sp>
        <p:nvSpPr>
          <p:cNvPr id="488" name="Google Shape;488;p22"/>
          <p:cNvSpPr txBox="1"/>
          <p:nvPr/>
        </p:nvSpPr>
        <p:spPr>
          <a:xfrm>
            <a:off x="731520" y="334203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BAFC9"/>
                </a:solidFill>
                <a:latin typeface="Calibri"/>
                <a:ea typeface="Calibri"/>
                <a:cs typeface="Calibri"/>
                <a:sym typeface="Calibri"/>
              </a:rPr>
              <a:t>→  PRISM v3 with Bayesian hierarchical framework (PyMC)</a:t>
            </a:r>
            <a:endParaRPr/>
          </a:p>
        </p:txBody>
      </p:sp>
      <p:sp>
        <p:nvSpPr>
          <p:cNvPr id="489" name="Google Shape;489;p22"/>
          <p:cNvSpPr txBox="1"/>
          <p:nvPr/>
        </p:nvSpPr>
        <p:spPr>
          <a:xfrm>
            <a:off x="731520" y="3652926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BAFC9"/>
                </a:solidFill>
                <a:latin typeface="Calibri"/>
                <a:ea typeface="Calibri"/>
                <a:cs typeface="Calibri"/>
                <a:sym typeface="Calibri"/>
              </a:rPr>
              <a:t>→  Geo-experiment in 2 pilot markets for causality</a:t>
            </a:r>
            <a:endParaRPr/>
          </a:p>
        </p:txBody>
      </p:sp>
      <p:sp>
        <p:nvSpPr>
          <p:cNvPr id="490" name="Google Shape;490;p22"/>
          <p:cNvSpPr/>
          <p:nvPr/>
        </p:nvSpPr>
        <p:spPr>
          <a:xfrm>
            <a:off x="78376" y="4250930"/>
            <a:ext cx="1920240" cy="804672"/>
          </a:xfrm>
          <a:prstGeom prst="roundRect">
            <a:avLst>
              <a:gd fmla="val 16667" name="adj"/>
            </a:avLst>
          </a:prstGeom>
          <a:solidFill>
            <a:srgbClr val="0F2236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1" name="Google Shape;491;p22"/>
          <p:cNvSpPr txBox="1"/>
          <p:nvPr/>
        </p:nvSpPr>
        <p:spPr>
          <a:xfrm>
            <a:off x="49912" y="4287058"/>
            <a:ext cx="19202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00C2CB"/>
                </a:solidFill>
                <a:latin typeface="Calibri"/>
                <a:ea typeface="Calibri"/>
                <a:cs typeface="Calibri"/>
                <a:sym typeface="Calibri"/>
              </a:rPr>
              <a:t>β = −0.36</a:t>
            </a:r>
            <a:endParaRPr/>
          </a:p>
        </p:txBody>
      </p:sp>
      <p:sp>
        <p:nvSpPr>
          <p:cNvPr id="492" name="Google Shape;492;p22"/>
          <p:cNvSpPr txBox="1"/>
          <p:nvPr/>
        </p:nvSpPr>
        <p:spPr>
          <a:xfrm>
            <a:off x="78376" y="4671554"/>
            <a:ext cx="1920240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8BAFC9"/>
                </a:solidFill>
                <a:latin typeface="Calibri"/>
                <a:ea typeface="Calibri"/>
                <a:cs typeface="Calibri"/>
                <a:sym typeface="Calibri"/>
              </a:rPr>
              <a:t>Football</a:t>
            </a:r>
            <a:br>
              <a:rPr b="0" i="0" lang="en-US" sz="850" u="none" cap="none" strike="noStrike">
                <a:solidFill>
                  <a:srgbClr val="8BAFC9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850" u="none" cap="none" strike="noStrike">
                <a:solidFill>
                  <a:srgbClr val="8BAFC9"/>
                </a:solidFill>
                <a:latin typeface="Calibri"/>
                <a:ea typeface="Calibri"/>
                <a:cs typeface="Calibri"/>
                <a:sym typeface="Calibri"/>
              </a:rPr>
              <a:t>(most inelastic)</a:t>
            </a:r>
            <a:endParaRPr/>
          </a:p>
        </p:txBody>
      </p:sp>
      <p:sp>
        <p:nvSpPr>
          <p:cNvPr id="493" name="Google Shape;493;p22"/>
          <p:cNvSpPr/>
          <p:nvPr/>
        </p:nvSpPr>
        <p:spPr>
          <a:xfrm>
            <a:off x="2163208" y="4250930"/>
            <a:ext cx="1920240" cy="804672"/>
          </a:xfrm>
          <a:prstGeom prst="roundRect">
            <a:avLst>
              <a:gd fmla="val 16667" name="adj"/>
            </a:avLst>
          </a:prstGeom>
          <a:solidFill>
            <a:srgbClr val="0F2236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4" name="Google Shape;494;p22"/>
          <p:cNvSpPr txBox="1"/>
          <p:nvPr/>
        </p:nvSpPr>
        <p:spPr>
          <a:xfrm>
            <a:off x="2163208" y="4291665"/>
            <a:ext cx="19202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00C2CB"/>
                </a:solidFill>
                <a:latin typeface="Calibri"/>
                <a:ea typeface="Calibri"/>
                <a:cs typeface="Calibri"/>
                <a:sym typeface="Calibri"/>
              </a:rPr>
              <a:t>β = −1.35</a:t>
            </a:r>
            <a:endParaRPr/>
          </a:p>
        </p:txBody>
      </p:sp>
      <p:sp>
        <p:nvSpPr>
          <p:cNvPr id="495" name="Google Shape;495;p22"/>
          <p:cNvSpPr txBox="1"/>
          <p:nvPr/>
        </p:nvSpPr>
        <p:spPr>
          <a:xfrm>
            <a:off x="2163208" y="4671554"/>
            <a:ext cx="1920240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8BAFC9"/>
                </a:solidFill>
                <a:latin typeface="Calibri"/>
                <a:ea typeface="Calibri"/>
                <a:cs typeface="Calibri"/>
                <a:sym typeface="Calibri"/>
              </a:rPr>
              <a:t>Series</a:t>
            </a:r>
            <a:br>
              <a:rPr b="0" i="0" lang="en-US" sz="850" u="none" cap="none" strike="noStrike">
                <a:solidFill>
                  <a:srgbClr val="8BAFC9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850" u="none" cap="none" strike="noStrike">
                <a:solidFill>
                  <a:srgbClr val="8BAFC9"/>
                </a:solidFill>
                <a:latin typeface="Calibri"/>
                <a:ea typeface="Calibri"/>
                <a:cs typeface="Calibri"/>
                <a:sym typeface="Calibri"/>
              </a:rPr>
              <a:t>(elastic)</a:t>
            </a:r>
            <a:endParaRPr/>
          </a:p>
        </p:txBody>
      </p:sp>
      <p:sp>
        <p:nvSpPr>
          <p:cNvPr id="496" name="Google Shape;496;p22"/>
          <p:cNvSpPr/>
          <p:nvPr/>
        </p:nvSpPr>
        <p:spPr>
          <a:xfrm>
            <a:off x="4248039" y="4250930"/>
            <a:ext cx="1920240" cy="804672"/>
          </a:xfrm>
          <a:prstGeom prst="roundRect">
            <a:avLst>
              <a:gd fmla="val 16667" name="adj"/>
            </a:avLst>
          </a:prstGeom>
          <a:solidFill>
            <a:srgbClr val="0F2236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7" name="Google Shape;497;p22"/>
          <p:cNvSpPr txBox="1"/>
          <p:nvPr/>
        </p:nvSpPr>
        <p:spPr>
          <a:xfrm>
            <a:off x="4248039" y="4296650"/>
            <a:ext cx="19202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00C2CB"/>
                </a:solidFill>
                <a:latin typeface="Calibri"/>
                <a:ea typeface="Calibri"/>
                <a:cs typeface="Calibri"/>
                <a:sym typeface="Calibri"/>
              </a:rPr>
              <a:t>+R$5.2M</a:t>
            </a:r>
            <a:endParaRPr/>
          </a:p>
        </p:txBody>
      </p:sp>
      <p:sp>
        <p:nvSpPr>
          <p:cNvPr id="498" name="Google Shape;498;p22"/>
          <p:cNvSpPr txBox="1"/>
          <p:nvPr/>
        </p:nvSpPr>
        <p:spPr>
          <a:xfrm>
            <a:off x="4248039" y="4671554"/>
            <a:ext cx="1920240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8BAFC9"/>
                </a:solidFill>
                <a:latin typeface="Calibri"/>
                <a:ea typeface="Calibri"/>
                <a:cs typeface="Calibri"/>
                <a:sym typeface="Calibri"/>
              </a:rPr>
              <a:t>Estimated</a:t>
            </a:r>
            <a:br>
              <a:rPr b="0" i="0" lang="en-US" sz="850" u="none" cap="none" strike="noStrike">
                <a:solidFill>
                  <a:srgbClr val="8BAFC9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850" u="none" cap="none" strike="noStrike">
                <a:solidFill>
                  <a:srgbClr val="8BAFC9"/>
                </a:solidFill>
                <a:latin typeface="Calibri"/>
                <a:ea typeface="Calibri"/>
                <a:cs typeface="Calibri"/>
                <a:sym typeface="Calibri"/>
              </a:rPr>
              <a:t>annual uplift</a:t>
            </a:r>
            <a:endParaRPr/>
          </a:p>
        </p:txBody>
      </p:sp>
      <p:sp>
        <p:nvSpPr>
          <p:cNvPr id="499" name="Google Shape;499;p22"/>
          <p:cNvSpPr/>
          <p:nvPr/>
        </p:nvSpPr>
        <p:spPr>
          <a:xfrm>
            <a:off x="6332872" y="4250930"/>
            <a:ext cx="1920240" cy="804672"/>
          </a:xfrm>
          <a:prstGeom prst="roundRect">
            <a:avLst>
              <a:gd fmla="val 16667" name="adj"/>
            </a:avLst>
          </a:prstGeom>
          <a:solidFill>
            <a:srgbClr val="0F2236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0" name="Google Shape;500;p22"/>
          <p:cNvSpPr txBox="1"/>
          <p:nvPr/>
        </p:nvSpPr>
        <p:spPr>
          <a:xfrm>
            <a:off x="6332872" y="4296650"/>
            <a:ext cx="19202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00C2CB"/>
                </a:solidFill>
                <a:latin typeface="Calibri"/>
                <a:ea typeface="Calibri"/>
                <a:cs typeface="Calibri"/>
                <a:sym typeface="Calibri"/>
              </a:rPr>
              <a:t>November</a:t>
            </a:r>
            <a:endParaRPr/>
          </a:p>
        </p:txBody>
      </p:sp>
      <p:sp>
        <p:nvSpPr>
          <p:cNvPr id="501" name="Google Shape;501;p22"/>
          <p:cNvSpPr txBox="1"/>
          <p:nvPr/>
        </p:nvSpPr>
        <p:spPr>
          <a:xfrm>
            <a:off x="6332872" y="4671554"/>
            <a:ext cx="1920240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8BAFC9"/>
                </a:solidFill>
                <a:latin typeface="Calibri"/>
                <a:ea typeface="Calibri"/>
                <a:cs typeface="Calibri"/>
                <a:sym typeface="Calibri"/>
              </a:rPr>
              <a:t>Optimal</a:t>
            </a:r>
            <a:br>
              <a:rPr b="0" i="0" lang="en-US" sz="850" u="none" cap="none" strike="noStrike">
                <a:solidFill>
                  <a:srgbClr val="8BAFC9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850" u="none" cap="none" strike="noStrike">
                <a:solidFill>
                  <a:srgbClr val="8BAFC9"/>
                </a:solidFill>
                <a:latin typeface="Calibri"/>
                <a:ea typeface="Calibri"/>
                <a:cs typeface="Calibri"/>
                <a:sym typeface="Calibri"/>
              </a:rPr>
              <a:t>adjustment timing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