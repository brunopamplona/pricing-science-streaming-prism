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304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rteReal, Bruno M." userId="1c36f8a7-b493-4096-928b-336ff98b84ae" providerId="ADAL" clId="{0FE4DE71-195D-473D-9C52-C27A6F88B3C4}"/>
    <pc:docChg chg="modSld">
      <pc:chgData name="CorteReal, Bruno M." userId="1c36f8a7-b493-4096-928b-336ff98b84ae" providerId="ADAL" clId="{0FE4DE71-195D-473D-9C52-C27A6F88B3C4}" dt="2026-08-24T16:42:06.245" v="1" actId="14100"/>
      <pc:docMkLst>
        <pc:docMk/>
      </pc:docMkLst>
      <pc:sldChg chg="modSp mod">
        <pc:chgData name="CorteReal, Bruno M." userId="1c36f8a7-b493-4096-928b-336ff98b84ae" providerId="ADAL" clId="{0FE4DE71-195D-473D-9C52-C27A6F88B3C4}" dt="2026-08-24T16:42:06.245" v="1" actId="14100"/>
        <pc:sldMkLst>
          <pc:docMk/>
          <pc:sldMk cId="0" sldId="265"/>
        </pc:sldMkLst>
        <pc:spChg chg="mod">
          <ac:chgData name="CorteReal, Bruno M." userId="1c36f8a7-b493-4096-928b-336ff98b84ae" providerId="ADAL" clId="{0FE4DE71-195D-473D-9C52-C27A6F88B3C4}" dt="2026-08-24T16:42:06.245" v="1" actId="14100"/>
          <ac:spMkLst>
            <pc:docMk/>
            <pc:sldMk cId="0" sldId="265"/>
            <ac:spMk id="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 sz="1000" b="0">
                <a:solidFill>
                  <a:srgbClr val="0D1B2A"/>
                </a:solidFill>
              </a:rPr>
              <a:t>Estimated β by package (OLS  ·  all p &lt; 0.05)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C2CB"/>
            </a:solidFill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Football</c:v>
                </c:pt>
                <c:pt idx="1">
                  <c:v>MMA / Combat</c:v>
                </c:pt>
                <c:pt idx="2">
                  <c:v>Bundle Plus</c:v>
                </c:pt>
                <c:pt idx="3">
                  <c:v>Family</c:v>
                </c:pt>
                <c:pt idx="4">
                  <c:v>Kids</c:v>
                </c:pt>
                <c:pt idx="5">
                  <c:v>Series / Films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-0.36</c:v>
                </c:pt>
                <c:pt idx="1">
                  <c:v>-0.54</c:v>
                </c:pt>
                <c:pt idx="2">
                  <c:v>-0.46</c:v>
                </c:pt>
                <c:pt idx="3">
                  <c:v>-0.73</c:v>
                </c:pt>
                <c:pt idx="4">
                  <c:v>-0.72</c:v>
                </c:pt>
                <c:pt idx="5">
                  <c:v>-1.35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9C1-4B27-AC47-58AAEEFEC8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0D1B2A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"/>
          <c:min val="-1.6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E93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 sz="1000">
                <a:solidFill>
                  <a:srgbClr val="0D1B2A"/>
                </a:solidFill>
              </a:rPr>
              <a:t>95% CI by package (blue=central, red=uncertainty range)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CI Low (conserv.)</c:v>
                </c:pt>
              </c:strCache>
            </c:strRef>
          </c:tx>
          <c:spPr>
            <a:solidFill>
              <a:srgbClr val="00C2CB"/>
            </a:solidFill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Football</c:v>
                </c:pt>
                <c:pt idx="1">
                  <c:v>MMA</c:v>
                </c:pt>
                <c:pt idx="2">
                  <c:v>Bundle+</c:v>
                </c:pt>
                <c:pt idx="3">
                  <c:v>Family</c:v>
                </c:pt>
                <c:pt idx="4">
                  <c:v>Kids</c:v>
                </c:pt>
                <c:pt idx="5">
                  <c:v>Series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0.61099999999999999</c:v>
                </c:pt>
                <c:pt idx="1">
                  <c:v>0.79900000000000004</c:v>
                </c:pt>
                <c:pt idx="2">
                  <c:v>0.74099999999999999</c:v>
                </c:pt>
                <c:pt idx="3">
                  <c:v>1.0049999999999999</c:v>
                </c:pt>
                <c:pt idx="4">
                  <c:v>1.05</c:v>
                </c:pt>
                <c:pt idx="5">
                  <c:v>1.6339999999999999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8BA-469A-A96C-B7365B326C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CI Range</c:v>
                </c:pt>
              </c:strCache>
            </c:strRef>
          </c:tx>
          <c:spPr>
            <a:solidFill>
              <a:srgbClr val="C0392B"/>
            </a:solidFill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Football</c:v>
                </c:pt>
                <c:pt idx="1">
                  <c:v>MMA</c:v>
                </c:pt>
                <c:pt idx="2">
                  <c:v>Bundle+</c:v>
                </c:pt>
                <c:pt idx="3">
                  <c:v>Family</c:v>
                </c:pt>
                <c:pt idx="4">
                  <c:v>Kids</c:v>
                </c:pt>
                <c:pt idx="5">
                  <c:v>Series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0.503</c:v>
                </c:pt>
                <c:pt idx="1">
                  <c:v>0.52100000000000002</c:v>
                </c:pt>
                <c:pt idx="2">
                  <c:v>0.56999999999999995</c:v>
                </c:pt>
                <c:pt idx="3">
                  <c:v>0.54900000000000004</c:v>
                </c:pt>
                <c:pt idx="4">
                  <c:v>0.65700000000000003</c:v>
                </c:pt>
                <c:pt idx="5">
                  <c:v>0.56799999999999995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88BA-469A-A96C-B7365B326C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0D1B2A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E93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 sz="1000">
                <a:solidFill>
                  <a:srgbClr val="0D1B2A"/>
                </a:solidFill>
              </a:rPr>
              <a:t>Current Price vs. OPP vs. PME by package (R$)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 Price (R$)</c:v>
                </c:pt>
              </c:strCache>
            </c:strRef>
          </c:tx>
          <c:spPr>
            <a:solidFill>
              <a:srgbClr val="BDC3C7"/>
            </a:solidFill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Football</c:v>
                </c:pt>
                <c:pt idx="1">
                  <c:v>MMA / Combat</c:v>
                </c:pt>
                <c:pt idx="2">
                  <c:v>Family</c:v>
                </c:pt>
                <c:pt idx="3">
                  <c:v>Series / Films</c:v>
                </c:pt>
                <c:pt idx="4">
                  <c:v>Kids</c:v>
                </c:pt>
                <c:pt idx="5">
                  <c:v>Bundle Plus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89.9</c:v>
                </c:pt>
                <c:pt idx="1">
                  <c:v>64.900000000000006</c:v>
                </c:pt>
                <c:pt idx="2">
                  <c:v>129.9</c:v>
                </c:pt>
                <c:pt idx="3">
                  <c:v>49.9</c:v>
                </c:pt>
                <c:pt idx="4">
                  <c:v>39.9</c:v>
                </c:pt>
                <c:pt idx="5">
                  <c:v>179.9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C12-4E47-AC3C-10F0793F4F0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OPP — Optimal Price (R$)</c:v>
                </c:pt>
              </c:strCache>
            </c:strRef>
          </c:tx>
          <c:spPr>
            <a:solidFill>
              <a:srgbClr val="00C2CB"/>
            </a:solidFill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Football</c:v>
                </c:pt>
                <c:pt idx="1">
                  <c:v>MMA / Combat</c:v>
                </c:pt>
                <c:pt idx="2">
                  <c:v>Family</c:v>
                </c:pt>
                <c:pt idx="3">
                  <c:v>Series / Films</c:v>
                </c:pt>
                <c:pt idx="4">
                  <c:v>Kids</c:v>
                </c:pt>
                <c:pt idx="5">
                  <c:v>Bundle Plus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115</c:v>
                </c:pt>
                <c:pt idx="1">
                  <c:v>82</c:v>
                </c:pt>
                <c:pt idx="2">
                  <c:v>135</c:v>
                </c:pt>
                <c:pt idx="3">
                  <c:v>52</c:v>
                </c:pt>
                <c:pt idx="4">
                  <c:v>44.5</c:v>
                </c:pt>
                <c:pt idx="5">
                  <c:v>185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8C12-4E47-AC3C-10F0793F4F0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PME — Max Acceptable (R$)</c:v>
                </c:pt>
              </c:strCache>
            </c:strRef>
          </c:tx>
          <c:spPr>
            <a:solidFill>
              <a:srgbClr val="1E8449"/>
            </a:solidFill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Football</c:v>
                </c:pt>
                <c:pt idx="1">
                  <c:v>MMA / Combat</c:v>
                </c:pt>
                <c:pt idx="2">
                  <c:v>Family</c:v>
                </c:pt>
                <c:pt idx="3">
                  <c:v>Series / Films</c:v>
                </c:pt>
                <c:pt idx="4">
                  <c:v>Kids</c:v>
                </c:pt>
                <c:pt idx="5">
                  <c:v>Bundle Plus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115</c:v>
                </c:pt>
                <c:pt idx="1">
                  <c:v>82</c:v>
                </c:pt>
                <c:pt idx="2">
                  <c:v>155</c:v>
                </c:pt>
                <c:pt idx="3">
                  <c:v>68</c:v>
                </c:pt>
                <c:pt idx="4">
                  <c:v>57</c:v>
                </c:pt>
                <c:pt idx="5">
                  <c:v>205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8C12-4E47-AC3C-10F0793F4F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0D1B2A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E93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 sz="1000" b="0">
                <a:solidFill>
                  <a:srgbClr val="0D1B2A"/>
                </a:solidFill>
              </a:rPr>
              <a:t>Incremental revenue gain by adjustment month — Football Package (+5.6%)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C2CB"/>
            </a:solidFill>
            <a:ln>
              <a:noFill/>
            </a:ln>
          </c:spPr>
          <c:invertIfNegative val="1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283.35871499264056</c:v>
                </c:pt>
                <c:pt idx="1">
                  <c:v>280.4496211865619</c:v>
                </c:pt>
                <c:pt idx="2">
                  <c:v>289.90417605632172</c:v>
                </c:pt>
                <c:pt idx="3">
                  <c:v>292.81326986240038</c:v>
                </c:pt>
                <c:pt idx="4">
                  <c:v>303.72237163520043</c:v>
                </c:pt>
                <c:pt idx="5">
                  <c:v>300.08600437759981</c:v>
                </c:pt>
                <c:pt idx="6">
                  <c:v>294.99509021696264</c:v>
                </c:pt>
                <c:pt idx="7">
                  <c:v>297.9041840230413</c:v>
                </c:pt>
                <c:pt idx="8">
                  <c:v>302.26782473216019</c:v>
                </c:pt>
                <c:pt idx="9">
                  <c:v>305.17691853824073</c:v>
                </c:pt>
                <c:pt idx="10">
                  <c:v>321.90420792320185</c:v>
                </c:pt>
                <c:pt idx="11">
                  <c:v>314.63147340800055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594C-49E9-A03E-0C966DE4BD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0D1B2A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E93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583680" y="-1280160"/>
            <a:ext cx="4572000" cy="4572000"/>
          </a:xfrm>
          <a:prstGeom prst="ellipse">
            <a:avLst/>
          </a:prstGeom>
          <a:solidFill>
            <a:srgbClr val="00C2CB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498079" y="-548640"/>
            <a:ext cx="2926080" cy="2926080"/>
          </a:xfrm>
          <a:prstGeom prst="ellipse">
            <a:avLst/>
          </a:prstGeom>
          <a:solidFill>
            <a:srgbClr val="02E8C8">
              <a:alpha val="1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3291840"/>
            <a:ext cx="3474720" cy="3474720"/>
          </a:xfrm>
          <a:prstGeom prst="ellipse">
            <a:avLst/>
          </a:prstGeom>
          <a:solidFill>
            <a:srgbClr val="00C2CB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868680"/>
            <a:ext cx="2926080" cy="310896"/>
          </a:xfrm>
          <a:prstGeom prst="roundRect">
            <a:avLst>
              <a:gd name="adj" fmla="val 16667"/>
            </a:avLst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0" rIns="91440" bIns="0" rtlCol="0" anchor="ctr"/>
          <a:lstStyle/>
          <a:p>
            <a:pPr algn="ctr"/>
            <a:r>
              <a:rPr sz="800" b="1">
                <a:solidFill>
                  <a:srgbClr val="0D1B2A"/>
                </a:solidFill>
              </a:rPr>
              <a:t>PRICING SCIENCE  ·  STREAMING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53312"/>
            <a:ext cx="356616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PRISM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481328"/>
            <a:ext cx="1463040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600" b="0" i="0">
                <a:solidFill>
                  <a:srgbClr val="00C2CB"/>
                </a:solidFill>
              </a:rPr>
              <a:t>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5943600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0" i="0">
                <a:solidFill>
                  <a:srgbClr val="00C2CB"/>
                </a:solidFill>
              </a:rPr>
              <a:t>Pricing &amp; Revenue Intelligence
for Streaming Markets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8BAFC9"/>
                </a:solidFill>
              </a:rPr>
              <a:t>Video+  ·  Strategic pricing insights for the CMO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21024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0" i="0">
                <a:solidFill>
                  <a:srgbClr val="3A5A78"/>
                </a:solidFill>
              </a:rPr>
              <a:t>OLS Log-Log  ·  95% CI propagated  ·  Cannibalization  ·  Seasonal Timing  ·  Van Westendorp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069080"/>
            <a:ext cx="1920240" cy="749808"/>
          </a:xfrm>
          <a:prstGeom prst="roundRect">
            <a:avLst>
              <a:gd name="adj" fmla="val 16667"/>
            </a:avLst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4114800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400" b="1" i="0">
                <a:solidFill>
                  <a:srgbClr val="00C2CB"/>
                </a:solidFill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480560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0" i="0">
                <a:solidFill>
                  <a:srgbClr val="8BAFC9"/>
                </a:solidFill>
              </a:rPr>
              <a:t>Packages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87752" y="4069080"/>
            <a:ext cx="1920240" cy="749808"/>
          </a:xfrm>
          <a:prstGeom prst="roundRect">
            <a:avLst>
              <a:gd name="adj" fmla="val 16667"/>
            </a:avLst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87752" y="4114800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400" b="1" i="0">
                <a:solidFill>
                  <a:srgbClr val="00C2CB"/>
                </a:solidFill>
              </a:rPr>
              <a:t>539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7752" y="4480560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0" i="0">
                <a:solidFill>
                  <a:srgbClr val="8BAFC9"/>
                </a:solidFill>
              </a:rPr>
              <a:t>Formulas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2583" y="4069080"/>
            <a:ext cx="1920240" cy="749808"/>
          </a:xfrm>
          <a:prstGeom prst="roundRect">
            <a:avLst>
              <a:gd name="adj" fmla="val 16667"/>
            </a:avLst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72583" y="4114800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400" b="1" i="0">
                <a:solidFill>
                  <a:srgbClr val="00C2CB"/>
                </a:solidFill>
              </a:rPr>
              <a:t>0.8K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3" y="4480560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0" i="0">
                <a:solidFill>
                  <a:srgbClr val="8BAFC9"/>
                </a:solidFill>
              </a:rPr>
              <a:t>Revenue Uplift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57416" y="4069080"/>
            <a:ext cx="1920240" cy="749808"/>
          </a:xfrm>
          <a:prstGeom prst="roundRect">
            <a:avLst>
              <a:gd name="adj" fmla="val 16667"/>
            </a:avLst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57416" y="4114800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400" b="1" i="0">
                <a:solidFill>
                  <a:srgbClr val="00C2CB"/>
                </a:solidFill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7416" y="4480560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0" i="0">
                <a:solidFill>
                  <a:srgbClr val="8BAFC9"/>
                </a:solidFill>
              </a:rPr>
              <a:t>Months of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What PRISM v2 reveals for the Video+ CMO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 i="0">
                <a:solidFill>
                  <a:srgbClr val="8BAFC9"/>
                </a:solidFill>
              </a:rPr>
              <a:t>5 dimensions of pricing intelligence — from elasticity to optimal price adjustment timing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98448"/>
            <a:ext cx="4160520" cy="804672"/>
          </a:xfrm>
          <a:prstGeom prst="roundRect">
            <a:avLst>
              <a:gd name="adj" fmla="val 16667"/>
            </a:avLst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08176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000" b="1" i="0">
                <a:solidFill>
                  <a:srgbClr val="00C2CB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1389888"/>
            <a:ext cx="33832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OLS Elasticity by package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1682495"/>
            <a:ext cx="3383279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0" i="0">
                <a:solidFill>
                  <a:srgbClr val="7AABB8"/>
                </a:solidFill>
              </a:rPr>
              <a:t>How much each package can sustain a price increase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1298448"/>
            <a:ext cx="4160520" cy="804672"/>
          </a:xfrm>
          <a:prstGeom prst="roundRect">
            <a:avLst>
              <a:gd name="adj" fmla="val 16667"/>
            </a:avLst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1408176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000" b="1" i="0">
                <a:solidFill>
                  <a:srgbClr val="00C2CB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8" y="1389888"/>
            <a:ext cx="33832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95% CI — Uncertainty 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8968" y="1682495"/>
            <a:ext cx="3383279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0" i="0">
                <a:solidFill>
                  <a:srgbClr val="7AABB8"/>
                </a:solidFill>
              </a:rPr>
              <a:t>Pessimistic vs. optimistic scenario by channel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258568"/>
            <a:ext cx="4160520" cy="804672"/>
          </a:xfrm>
          <a:prstGeom prst="roundRect">
            <a:avLst>
              <a:gd name="adj" fmla="val 16667"/>
            </a:avLst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368296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000" b="1" i="0">
                <a:solidFill>
                  <a:srgbClr val="00C2CB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2350008"/>
            <a:ext cx="33832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Willingness-to-Pay (WTP)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2642615"/>
            <a:ext cx="3383279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0" i="0">
                <a:solidFill>
                  <a:srgbClr val="7AABB8"/>
                </a:solidFill>
              </a:rPr>
              <a:t>What each segment is willing to pay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2258568"/>
            <a:ext cx="4160520" cy="804672"/>
          </a:xfrm>
          <a:prstGeom prst="roundRect">
            <a:avLst>
              <a:gd name="adj" fmla="val 16667"/>
            </a:avLst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0" y="2368296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000" b="1" i="0">
                <a:solidFill>
                  <a:srgbClr val="00C2CB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58968" y="2350008"/>
            <a:ext cx="33832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Bundle cannibalization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58968" y="2642615"/>
            <a:ext cx="3383279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0" i="0">
                <a:solidFill>
                  <a:srgbClr val="7AABB8"/>
                </a:solidFill>
              </a:rPr>
              <a:t>Price adjustment impact on other packages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06040" y="3218688"/>
            <a:ext cx="3931920" cy="804672"/>
          </a:xfrm>
          <a:prstGeom prst="roundRect">
            <a:avLst>
              <a:gd name="adj" fmla="val 16667"/>
            </a:avLst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0" y="3328416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000" b="1" i="0">
                <a:solidFill>
                  <a:srgbClr val="00C2CB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64408" y="3310128"/>
            <a:ext cx="31546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Optimal seasonal 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4408" y="3602736"/>
            <a:ext cx="3154679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0" i="0">
                <a:solidFill>
                  <a:srgbClr val="7AABB8"/>
                </a:solidFill>
              </a:rPr>
              <a:t>The best month to implement each price adjustment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109728"/>
            <a:ext cx="1920240" cy="265176"/>
          </a:xfrm>
          <a:prstGeom prst="roundRect">
            <a:avLst>
              <a:gd name="adj" fmla="val 16667"/>
            </a:avLst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0" rIns="91440" bIns="0" rtlCol="0" anchor="ctr"/>
          <a:lstStyle/>
          <a:p>
            <a:pPr algn="ctr"/>
            <a:r>
              <a:rPr sz="800" b="1">
                <a:solidFill>
                  <a:srgbClr val="0D1B2A"/>
                </a:solidFill>
              </a:rPr>
              <a:t>01  OLS ELASTICITY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 i="0">
                <a:solidFill>
                  <a:srgbClr val="0D1B2A"/>
                </a:solidFill>
              </a:rPr>
              <a:t>How much each package can sustain a price increase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9264"/>
            <a:ext cx="83210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6B7E93"/>
                </a:solidFill>
              </a:rPr>
              <a:t>OLS log-log regression estimated on 144 observations  ·  ln(Subscribers) = α + β·ln(Price) + γ·Season + δ·Promo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16736"/>
            <a:ext cx="8321040" cy="420624"/>
          </a:xfrm>
          <a:prstGeom prst="roundRect">
            <a:avLst>
              <a:gd name="adj" fmla="val 16667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81381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50" b="1" i="0">
                <a:solidFill>
                  <a:srgbClr val="00C2CB"/>
                </a:solidFill>
              </a:rPr>
              <a:t>β = Price Elasticity  ·  β &lt; −1.0: Elastic (sensitive)  ·  −1.0 &lt; β &lt; −0.5: Moderately inelastic  ·  β &gt; −0.5: Strongly inelastic (can raise price)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11480" y="1847088"/>
          <a:ext cx="51206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0" y="1847088"/>
            <a:ext cx="3063240" cy="384048"/>
          </a:xfrm>
          <a:prstGeom prst="roundRect">
            <a:avLst>
              <a:gd name="adj" fmla="val 16667"/>
            </a:avLst>
          </a:prstGeom>
          <a:solidFill>
            <a:srgbClr val="E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0" y="1847088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Football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847088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1E8449"/>
                </a:solidFill>
              </a:rPr>
              <a:t>−0.36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43216" y="1847088"/>
            <a:ext cx="12344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50" b="1" i="0">
                <a:solidFill>
                  <a:srgbClr val="1E8449"/>
                </a:solidFill>
              </a:rPr>
              <a:t>STRONGLY INELASTIC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275027"/>
            <a:ext cx="3063240" cy="384048"/>
          </a:xfrm>
          <a:prstGeom prst="roundRect">
            <a:avLst>
              <a:gd name="adj" fmla="val 16667"/>
            </a:avLst>
          </a:prstGeom>
          <a:solidFill>
            <a:srgbClr val="E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720" y="2275027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MMA / Combat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2275027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1E8449"/>
                </a:solidFill>
              </a:rPr>
              <a:t>−0.54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43216" y="2275027"/>
            <a:ext cx="12344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50" b="1" i="0">
                <a:solidFill>
                  <a:srgbClr val="1E8449"/>
                </a:solidFill>
              </a:rPr>
              <a:t>STRONGLY INELASTIC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2702966"/>
            <a:ext cx="3063240" cy="384048"/>
          </a:xfrm>
          <a:prstGeom prst="roundRect">
            <a:avLst>
              <a:gd name="adj" fmla="val 16667"/>
            </a:avLst>
          </a:prstGeom>
          <a:solidFill>
            <a:srgbClr val="E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60720" y="2702966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Bundle Plus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702966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1E8449"/>
                </a:solidFill>
              </a:rPr>
              <a:t>−0.46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3216" y="2702966"/>
            <a:ext cx="12344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50" b="1" i="0">
                <a:solidFill>
                  <a:srgbClr val="1E8449"/>
                </a:solidFill>
              </a:rPr>
              <a:t>STRONGLY INELASTIC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3130905"/>
            <a:ext cx="3063240" cy="384048"/>
          </a:xfrm>
          <a:prstGeom prst="roundRect">
            <a:avLst>
              <a:gd name="adj" fmla="val 16667"/>
            </a:avLst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60720" y="3130905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Family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3130905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E67E22"/>
                </a:solidFill>
              </a:rPr>
              <a:t>−0.73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216" y="3130905"/>
            <a:ext cx="12344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50" b="1" i="0">
                <a:solidFill>
                  <a:srgbClr val="E67E22"/>
                </a:solidFill>
              </a:rPr>
              <a:t>MODERATELY INEL.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3558844"/>
            <a:ext cx="3063240" cy="384048"/>
          </a:xfrm>
          <a:prstGeom prst="roundRect">
            <a:avLst>
              <a:gd name="adj" fmla="val 16667"/>
            </a:avLst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60720" y="3558844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Kids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3558844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E67E22"/>
                </a:solidFill>
              </a:rPr>
              <a:t>−0.72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3558844"/>
            <a:ext cx="12344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50" b="1" i="0">
                <a:solidFill>
                  <a:srgbClr val="E67E22"/>
                </a:solidFill>
              </a:rPr>
              <a:t>MODERATELY INEL.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0" y="3986784"/>
            <a:ext cx="3063240" cy="384048"/>
          </a:xfrm>
          <a:prstGeom prst="roundRect">
            <a:avLst>
              <a:gd name="adj" fmla="val 16667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760720" y="3986784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Series / Films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6288" y="3986784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C0392B"/>
                </a:solidFill>
              </a:rPr>
              <a:t>−1.35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216" y="3986784"/>
            <a:ext cx="12344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50" b="1" i="0">
                <a:solidFill>
                  <a:srgbClr val="C0392B"/>
                </a:solidFill>
              </a:rPr>
              <a:t>ELASTIC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4315968"/>
            <a:ext cx="8321040" cy="548640"/>
          </a:xfrm>
          <a:prstGeom prst="roundRect">
            <a:avLst>
              <a:gd name="adj" fmla="val 16667"/>
            </a:avLst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4352544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 i="0">
                <a:solidFill>
                  <a:srgbClr val="1A3A5C"/>
                </a:solidFill>
              </a:rPr>
              <a:t>💡  Series/Films is the only elastic package (β=−1.35) — raising price here REDUCES revenue. Football (β=−0.36) is the most inelastic: each +10% price increase reduces only 3.6% of the base. Adjustment priority: Football → MMA → Bundle Plus.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109728"/>
            <a:ext cx="1920240" cy="265176"/>
          </a:xfrm>
          <a:prstGeom prst="roundRect">
            <a:avLst>
              <a:gd name="adj" fmla="val 16667"/>
            </a:avLst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0" rIns="91440" bIns="0" rtlCol="0" anchor="ctr"/>
          <a:lstStyle/>
          <a:p>
            <a:pPr algn="ctr"/>
            <a:r>
              <a:rPr sz="800" b="1">
                <a:solidFill>
                  <a:srgbClr val="0D1B2A"/>
                </a:solidFill>
              </a:rPr>
              <a:t>02  95% CI — UNCERTAINTY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 i="0">
                <a:solidFill>
                  <a:srgbClr val="0D1B2A"/>
                </a:solidFill>
              </a:rPr>
              <a:t>Uncertainty range: what the model guarantees vs. what is an estimate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9264"/>
            <a:ext cx="83210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6B7E93"/>
                </a:solidFill>
              </a:rPr>
              <a:t>95% CI = β ± 1.96 × SE(β)  ·  Planning should use CI Low as the conservative scenario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16736"/>
            <a:ext cx="2670048" cy="1261872"/>
          </a:xfrm>
          <a:prstGeom prst="roundRect">
            <a:avLst>
              <a:gd name="adj" fmla="val 16667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2487168" cy="40233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PESSIMISTIC SCENARIO
(β = CI Low)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2487168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600" b="1" i="0">
                <a:solidFill>
                  <a:srgbClr val="C0392B"/>
                </a:solidFill>
              </a:rPr>
              <a:t>−R$2.1M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12848"/>
            <a:ext cx="2487168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0" i="0">
                <a:solidFill>
                  <a:srgbClr val="6B7E93"/>
                </a:solidFill>
              </a:rPr>
              <a:t>Monthly revenue
if elasticity at floor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27832" y="1316736"/>
            <a:ext cx="2670048" cy="1261872"/>
          </a:xfrm>
          <a:prstGeom prst="roundRect">
            <a:avLst>
              <a:gd name="adj" fmla="val 16667"/>
            </a:avLst>
          </a:prstGeom>
          <a:solidFill>
            <a:srgbClr val="E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19272" y="1371600"/>
            <a:ext cx="2487168" cy="40233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CENTRAL SCENARIO
(β OLS estimated)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9272" y="1755648"/>
            <a:ext cx="2487168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600" b="1" i="0">
                <a:solidFill>
                  <a:srgbClr val="1E8449"/>
                </a:solidFill>
              </a:rPr>
              <a:t>+R$4.8M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9272" y="2212848"/>
            <a:ext cx="2487168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0" i="0">
                <a:solidFill>
                  <a:srgbClr val="6B7E93"/>
                </a:solidFill>
              </a:rPr>
              <a:t>Incremental revenue
with proposed prices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44184" y="1316736"/>
            <a:ext cx="2670048" cy="1261872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35624" y="1371600"/>
            <a:ext cx="2487168" cy="40233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OPTIMISTIC SCENARIO
(β = CI High)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5624" y="1755648"/>
            <a:ext cx="2487168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600" b="1" i="0">
                <a:solidFill>
                  <a:srgbClr val="00C2CB"/>
                </a:solidFill>
              </a:rPr>
              <a:t>+R$9.2M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5624" y="2212848"/>
            <a:ext cx="2487168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0" i="0">
                <a:solidFill>
                  <a:srgbClr val="6B7E93"/>
                </a:solidFill>
              </a:rPr>
              <a:t>Monthly revenue
if elasticity at ceiling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11480" y="2706624"/>
          <a:ext cx="530352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852160" y="2706624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Decision guide by package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3035808"/>
            <a:ext cx="2880360" cy="3108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907024" y="3090672"/>
            <a:ext cx="621792" cy="201168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0" rIns="9144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035808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Football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7" y="303580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 i="0">
                <a:solidFill>
                  <a:srgbClr val="6B7E93"/>
                </a:solidFill>
              </a:rPr>
              <a:t>Reserve +15% in budget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3383279"/>
            <a:ext cx="2880360" cy="3108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907024" y="3438144"/>
            <a:ext cx="621792" cy="201168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0" rIns="9144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383279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MMA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4927" y="3383279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 i="0">
                <a:solidFill>
                  <a:srgbClr val="6B7E93"/>
                </a:solidFill>
              </a:rPr>
              <a:t>Reserve +15% in budget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0" y="3730752"/>
            <a:ext cx="2880360" cy="3108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907024" y="3785615"/>
            <a:ext cx="621792" cy="201168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0" rIns="9144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73075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Bundle+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4927" y="3730752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 i="0">
                <a:solidFill>
                  <a:srgbClr val="6B7E93"/>
                </a:solidFill>
              </a:rPr>
              <a:t>Reserve +20% in budget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52160" y="4078224"/>
            <a:ext cx="2880360" cy="3108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907024" y="4133087"/>
            <a:ext cx="621792" cy="201168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0" rIns="9144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078224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Family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4927" y="4078224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 i="0">
                <a:solidFill>
                  <a:srgbClr val="6B7E93"/>
                </a:solidFill>
              </a:rPr>
              <a:t>Reserve +15% in budget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52160" y="4425696"/>
            <a:ext cx="2880360" cy="3108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907024" y="4480559"/>
            <a:ext cx="621792" cy="201168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0" rIns="9144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425696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Kids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4927" y="4425696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 i="0">
                <a:solidFill>
                  <a:srgbClr val="6B7E93"/>
                </a:solidFill>
              </a:rPr>
              <a:t>Reserve +25% in budget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52160" y="4773168"/>
            <a:ext cx="2880360" cy="3108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907024" y="4828031"/>
            <a:ext cx="621792" cy="201168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0" rIns="9144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773168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Series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4927" y="477316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 i="0">
                <a:solidFill>
                  <a:srgbClr val="6B7E93"/>
                </a:solidFill>
              </a:rPr>
              <a:t>DO NOT increase — risk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4315968"/>
            <a:ext cx="8321040" cy="548640"/>
          </a:xfrm>
          <a:prstGeom prst="roundRect">
            <a:avLst>
              <a:gd name="adj" fmla="val 16667"/>
            </a:avLst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4352544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 i="0">
                <a:solidFill>
                  <a:srgbClr val="1A3A5C"/>
                </a:solidFill>
              </a:rPr>
              <a:t>💡  Kids has the widest CI range (±0.66) — plan with +25% safety margin in budget. Football (±0.50) is the most predictable inelastic channel. Series/Films: regardless of CI, do not raise price — elastic in any scenario.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109728"/>
            <a:ext cx="1920240" cy="265176"/>
          </a:xfrm>
          <a:prstGeom prst="roundRect">
            <a:avLst>
              <a:gd name="adj" fmla="val 16667"/>
            </a:avLst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0" rIns="91440" bIns="0" rtlCol="0" anchor="ctr"/>
          <a:lstStyle/>
          <a:p>
            <a:pPr algn="ctr"/>
            <a:r>
              <a:rPr sz="800" b="1">
                <a:solidFill>
                  <a:srgbClr val="0D1B2A"/>
                </a:solidFill>
              </a:rPr>
              <a:t>03  WILLINGNESS-TO-PAY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 i="0">
                <a:solidFill>
                  <a:srgbClr val="0D1B2A"/>
                </a:solidFill>
              </a:rPr>
              <a:t>What each segment is willing to pay — Van Westendorp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9264"/>
            <a:ext cx="83210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6B7E93"/>
                </a:solidFill>
              </a:rPr>
              <a:t>OPP = (Q2+Q3)/2  ·  PMC = Q4 (minimum acceptable)  ·  PME = Q2 (maximum acceptable)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11480" y="1316736"/>
          <a:ext cx="51206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0" y="1316736"/>
            <a:ext cx="30632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Delta OPP vs. Current Price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645920"/>
            <a:ext cx="3063240" cy="40233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0" y="1645920"/>
            <a:ext cx="14173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Football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6328" y="1645920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1" i="0">
                <a:solidFill>
                  <a:srgbClr val="1E8449"/>
                </a:solidFill>
              </a:rPr>
              <a:t>+R$25.1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1645920"/>
            <a:ext cx="58521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1E8449"/>
                </a:solidFill>
              </a:rPr>
              <a:t>+28%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2103120"/>
            <a:ext cx="3063240" cy="40233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0" y="2103120"/>
            <a:ext cx="14173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MMA / Combat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96328" y="2103120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1" i="0">
                <a:solidFill>
                  <a:srgbClr val="1E8449"/>
                </a:solidFill>
              </a:rPr>
              <a:t>+R$17.1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2103120"/>
            <a:ext cx="58521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1E8449"/>
                </a:solidFill>
              </a:rPr>
              <a:t>+26%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2560320"/>
            <a:ext cx="3063240" cy="40233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60720" y="2560320"/>
            <a:ext cx="14173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Family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96328" y="2560320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1" i="0">
                <a:solidFill>
                  <a:srgbClr val="E67E22"/>
                </a:solidFill>
              </a:rPr>
              <a:t>+R$5.1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560320"/>
            <a:ext cx="58521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E67E22"/>
                </a:solidFill>
              </a:rPr>
              <a:t>+4%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3017520"/>
            <a:ext cx="3063240" cy="40233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720" y="3017520"/>
            <a:ext cx="14173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Series/Films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6328" y="3017520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1" i="0">
                <a:solidFill>
                  <a:srgbClr val="E67E22"/>
                </a:solidFill>
              </a:rPr>
              <a:t>+R$2.1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3017520"/>
            <a:ext cx="58521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E67E22"/>
                </a:solidFill>
              </a:rPr>
              <a:t>+4%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0" y="3474720"/>
            <a:ext cx="3063240" cy="40233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60720" y="3474720"/>
            <a:ext cx="14173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Kids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6328" y="3474720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1" i="0">
                <a:solidFill>
                  <a:srgbClr val="1E8449"/>
                </a:solidFill>
              </a:rPr>
              <a:t>+R$4.6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3474720"/>
            <a:ext cx="58521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1E8449"/>
                </a:solidFill>
              </a:rPr>
              <a:t>+12%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3931920"/>
            <a:ext cx="3063240" cy="40233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60720" y="3931920"/>
            <a:ext cx="14173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Bundle Plus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3931920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1" i="0">
                <a:solidFill>
                  <a:srgbClr val="E67E22"/>
                </a:solidFill>
              </a:rPr>
              <a:t>+R$5.1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3931920"/>
            <a:ext cx="58521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E67E22"/>
                </a:solidFill>
              </a:rPr>
              <a:t>+3%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4315968"/>
            <a:ext cx="8321040" cy="548640"/>
          </a:xfrm>
          <a:prstGeom prst="roundRect">
            <a:avLst>
              <a:gd name="adj" fmla="val 16667"/>
            </a:avLst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4352544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 i="0">
                <a:solidFill>
                  <a:srgbClr val="1A3A5C"/>
                </a:solidFill>
              </a:rPr>
              <a:t>💡  Football and MMA have the largest uncaptured WTP gap: OPP 26-28% above current price. The survey shows fans would pay R$115/month for Football — current: R$89.90. That is R$25/subscriber/month in revenue left on the 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109728"/>
            <a:ext cx="1920240" cy="265176"/>
          </a:xfrm>
          <a:prstGeom prst="roundRect">
            <a:avLst>
              <a:gd name="adj" fmla="val 16667"/>
            </a:avLst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0" rIns="91440" bIns="0" rtlCol="0" anchor="ctr"/>
          <a:lstStyle/>
          <a:p>
            <a:pPr algn="ctr"/>
            <a:r>
              <a:rPr sz="800" b="1">
                <a:solidFill>
                  <a:srgbClr val="0D1B2A"/>
                </a:solidFill>
              </a:rPr>
              <a:t>04  CANNIBALIZATION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 i="0">
                <a:solidFill>
                  <a:srgbClr val="0D1B2A"/>
                </a:solidFill>
              </a:rPr>
              <a:t>Raising Football price affects other packages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83210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6B7E93"/>
                </a:solidFill>
              </a:rPr>
              <a:t>Cross-price elasticity ε_ij: % change in demand of package i when the price of package j rises 1%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914399"/>
            <a:ext cx="987552" cy="347472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17320" y="914399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Football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04872" y="914399"/>
            <a:ext cx="987552" cy="347472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04872" y="914399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914399"/>
            <a:ext cx="987552" cy="347472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92424" y="914399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Family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914399"/>
            <a:ext cx="987552" cy="347472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79976" y="914399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Series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67528" y="914399"/>
            <a:ext cx="987552" cy="347472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67528" y="914399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Kids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914399"/>
            <a:ext cx="987552" cy="347472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914399"/>
            <a:ext cx="9875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Bundle+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1280160"/>
            <a:ext cx="969264" cy="402336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1280160"/>
            <a:ext cx="969264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Football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1280160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17320" y="1280160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0" i="0">
                <a:solidFill>
                  <a:srgbClr val="6B7E93"/>
                </a:solidFill>
              </a:rPr>
              <a:t>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04872" y="1280160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04872" y="1280160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E67E22"/>
                </a:solidFill>
              </a:rPr>
              <a:t>0.12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92424" y="1280160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92424" y="1280160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6B7E93"/>
                </a:solidFill>
              </a:rPr>
              <a:t>-0.05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9976" y="1280160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79976" y="1280160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6B7E93"/>
                </a:solidFill>
              </a:rPr>
              <a:t>-0.03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67528" y="1280160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67528" y="1280160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6B7E93"/>
                </a:solidFill>
              </a:rPr>
              <a:t>-0.02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1280160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E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1280160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1E8449"/>
                </a:solidFill>
              </a:rPr>
              <a:t>-0.18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1682495"/>
            <a:ext cx="969264" cy="402336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1682495"/>
            <a:ext cx="969264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MMA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17320" y="1682495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417320" y="1682495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E67E22"/>
                </a:solidFill>
              </a:rPr>
              <a:t>0.10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04872" y="1682495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404872" y="1682495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0" i="0">
                <a:solidFill>
                  <a:srgbClr val="6B7E93"/>
                </a:solidFill>
              </a:rPr>
              <a:t>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92424" y="1682495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92424" y="1682495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6B7E93"/>
                </a:solidFill>
              </a:rPr>
              <a:t>-0.03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79976" y="1682495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79976" y="1682495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6B7E93"/>
                </a:solidFill>
              </a:rPr>
              <a:t>-0.02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67528" y="1682495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67528" y="1682495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6B7E93"/>
                </a:solidFill>
              </a:rPr>
              <a:t>-0.01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55080" y="1682495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E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55080" y="1682495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1E8449"/>
                </a:solidFill>
              </a:rPr>
              <a:t>-0.15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2084831"/>
            <a:ext cx="969264" cy="402336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11480" y="2084831"/>
            <a:ext cx="969264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Family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17320" y="2084831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417320" y="2084831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6B7E93"/>
                </a:solidFill>
              </a:rPr>
              <a:t>-0.05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404872" y="2084831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404872" y="2084831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6B7E93"/>
                </a:solidFill>
              </a:rPr>
              <a:t>-0.03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392424" y="2084831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392424" y="2084831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0" i="0">
                <a:solidFill>
                  <a:srgbClr val="6B7E93"/>
                </a:solidFill>
              </a:rPr>
              <a:t>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79976" y="2084831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379976" y="2084831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E67E22"/>
                </a:solidFill>
              </a:rPr>
              <a:t>0.08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367528" y="2084831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367528" y="2084831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E67E22"/>
                </a:solidFill>
              </a:rPr>
              <a:t>0.14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55080" y="2084831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E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355080" y="2084831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1E8449"/>
                </a:solidFill>
              </a:rPr>
              <a:t>-0.22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11480" y="2487168"/>
            <a:ext cx="969264" cy="402336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11480" y="2487168"/>
            <a:ext cx="969264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Series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417320" y="2487168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417320" y="2487168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6B7E93"/>
                </a:solidFill>
              </a:rPr>
              <a:t>-0.03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404872" y="2487168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404872" y="2487168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6B7E93"/>
                </a:solidFill>
              </a:rPr>
              <a:t>-0.02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392424" y="2487168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392424" y="2487168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E67E22"/>
                </a:solidFill>
              </a:rPr>
              <a:t>0.08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379976" y="2487168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379976" y="2487168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0" i="0">
                <a:solidFill>
                  <a:srgbClr val="6B7E93"/>
                </a:solidFill>
              </a:rPr>
              <a:t>—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367528" y="2487168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367528" y="2487168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6B7E93"/>
                </a:solidFill>
              </a:rPr>
              <a:t>0.04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55080" y="2487168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E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355080" y="2487168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1E8449"/>
                </a:solidFill>
              </a:rPr>
              <a:t>-0.20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11480" y="2889504"/>
            <a:ext cx="969264" cy="402336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11480" y="2889504"/>
            <a:ext cx="969264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Kids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417320" y="2889504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417320" y="2889504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6B7E93"/>
                </a:solidFill>
              </a:rPr>
              <a:t>-0.02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404872" y="2889504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404872" y="2889504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6B7E93"/>
                </a:solidFill>
              </a:rPr>
              <a:t>-0.01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392424" y="2889504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392424" y="2889504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E67E22"/>
                </a:solidFill>
              </a:rPr>
              <a:t>0.14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379976" y="2889504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379976" y="2889504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6B7E93"/>
                </a:solidFill>
              </a:rPr>
              <a:t>0.04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367528" y="2889504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367528" y="2889504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0" i="0">
                <a:solidFill>
                  <a:srgbClr val="6B7E93"/>
                </a:solidFill>
              </a:rPr>
              <a:t>—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355080" y="2889504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E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355080" y="2889504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1E8449"/>
                </a:solidFill>
              </a:rPr>
              <a:t>-0.12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11480" y="3291840"/>
            <a:ext cx="969264" cy="402336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11480" y="3291840"/>
            <a:ext cx="969264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Bundle+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417320" y="3291840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417320" y="3291840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E67E22"/>
                </a:solidFill>
              </a:rPr>
              <a:t>0.20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404872" y="3291840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404872" y="3291840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E67E22"/>
                </a:solidFill>
              </a:rPr>
              <a:t>0.15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392424" y="3291840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392424" y="3291840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E67E22"/>
                </a:solidFill>
              </a:rPr>
              <a:t>0.25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379976" y="3291840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379976" y="3291840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E67E22"/>
                </a:solidFill>
              </a:rPr>
              <a:t>0.18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367528" y="3291840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367528" y="3291840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E67E22"/>
                </a:solidFill>
              </a:rPr>
              <a:t>0.12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355080" y="3291840"/>
            <a:ext cx="987552" cy="402336"/>
          </a:xfrm>
          <a:prstGeom prst="roundRect">
            <a:avLst>
              <a:gd name="adj" fmla="val 16667"/>
            </a:avLst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355080" y="3291840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0" i="0">
                <a:solidFill>
                  <a:srgbClr val="6B7E93"/>
                </a:solidFill>
              </a:rPr>
              <a:t>—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11480" y="37673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0" i="0">
                <a:solidFill>
                  <a:srgbClr val="6B7E93"/>
                </a:solidFill>
              </a:rPr>
              <a:t>Orange = substitutes (price increase drains subscribers to internal competitor)    Green = complements (price increase raises demand)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11480" y="4315968"/>
            <a:ext cx="8321040" cy="548640"/>
          </a:xfrm>
          <a:prstGeom prst="roundRect">
            <a:avLst>
              <a:gd name="adj" fmla="val 16667"/>
            </a:avLst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02920" y="4352544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 i="0">
                <a:solidFill>
                  <a:srgbClr val="1A3A5C"/>
                </a:solidFill>
              </a:rPr>
              <a:t>💡  Bundle Plus is the migration destination when Football raises price (ε=+0.20). A well-executed Football price increase can boost Bundle Plus — the net revenue effect can be positive if the bundle is priced above breakeven.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109728"/>
            <a:ext cx="1920240" cy="265176"/>
          </a:xfrm>
          <a:prstGeom prst="roundRect">
            <a:avLst>
              <a:gd name="adj" fmla="val 16667"/>
            </a:avLst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0" rIns="91440" bIns="0" rtlCol="0" anchor="ctr"/>
          <a:lstStyle/>
          <a:p>
            <a:pPr algn="ctr"/>
            <a:r>
              <a:rPr sz="800" b="1">
                <a:solidFill>
                  <a:srgbClr val="0D1B2A"/>
                </a:solidFill>
              </a:rPr>
              <a:t>05  SEASONAL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 i="0">
                <a:solidFill>
                  <a:srgbClr val="0D1B2A"/>
                </a:solidFill>
              </a:rPr>
              <a:t>The implementation month matters as much as the % increase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9264"/>
            <a:ext cx="83210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6B7E93"/>
                </a:solidFill>
              </a:rPr>
              <a:t>A R$5 increase in Nov (index 1.35) causes 40% less churn than the same increase in Feb (index 0.78)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11480" y="1316736"/>
          <a:ext cx="5303520" cy="2578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52160" y="1316736"/>
            <a:ext cx="28803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Timing ranking — Football +5.6%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645920"/>
            <a:ext cx="2880360" cy="365760"/>
          </a:xfrm>
          <a:prstGeom prst="roundRect">
            <a:avLst>
              <a:gd name="adj" fmla="val 16667"/>
            </a:avLst>
          </a:prstGeom>
          <a:solidFill>
            <a:srgbClr val="E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25312" y="1645920"/>
            <a:ext cx="34747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1" i="0">
                <a:solidFill>
                  <a:srgbClr val="1E8449"/>
                </a:solidFill>
              </a:rPr>
              <a:t>1°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1072" y="1645920"/>
            <a:ext cx="512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 i="0">
                <a:solidFill>
                  <a:srgbClr val="1E8449"/>
                </a:solidFill>
              </a:rPr>
              <a:t>Nov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1424" y="1645920"/>
            <a:ext cx="80467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i="0">
                <a:solidFill>
                  <a:srgbClr val="6B7E93"/>
                </a:solidFill>
              </a:rPr>
              <a:t>Index 1.35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44383" y="1645920"/>
            <a:ext cx="102412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1" i="0">
                <a:solidFill>
                  <a:srgbClr val="1E8449"/>
                </a:solidFill>
              </a:rPr>
              <a:t>R$321k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2066544"/>
            <a:ext cx="2880360" cy="36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25312" y="2066544"/>
            <a:ext cx="34747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2°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066544"/>
            <a:ext cx="512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Dec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1424" y="2066544"/>
            <a:ext cx="80467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i="0">
                <a:solidFill>
                  <a:srgbClr val="6B7E93"/>
                </a:solidFill>
              </a:rPr>
              <a:t>Index 1.25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44383" y="2066544"/>
            <a:ext cx="102412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1" i="0">
                <a:solidFill>
                  <a:srgbClr val="0D1B2A"/>
                </a:solidFill>
              </a:rPr>
              <a:t>R$314k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2487168"/>
            <a:ext cx="2880360" cy="36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25312" y="2487168"/>
            <a:ext cx="34747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3°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487168"/>
            <a:ext cx="512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Oct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2487168"/>
            <a:ext cx="80467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i="0">
                <a:solidFill>
                  <a:srgbClr val="6B7E93"/>
                </a:solidFill>
              </a:rPr>
              <a:t>Index 1.12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4383" y="2487168"/>
            <a:ext cx="102412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1" i="0">
                <a:solidFill>
                  <a:srgbClr val="0D1B2A"/>
                </a:solidFill>
              </a:rPr>
              <a:t>R$305k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2907792"/>
            <a:ext cx="2880360" cy="36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25312" y="2907792"/>
            <a:ext cx="34747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4°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2907792"/>
            <a:ext cx="512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May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1424" y="2907792"/>
            <a:ext cx="80467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i="0">
                <a:solidFill>
                  <a:srgbClr val="6B7E93"/>
                </a:solidFill>
              </a:rPr>
              <a:t>Index 1.10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4383" y="2907792"/>
            <a:ext cx="102412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1" i="0">
                <a:solidFill>
                  <a:srgbClr val="0D1B2A"/>
                </a:solidFill>
              </a:rPr>
              <a:t>R$303k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0" y="3328416"/>
            <a:ext cx="2880360" cy="36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25312" y="3328416"/>
            <a:ext cx="34747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5°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3328416"/>
            <a:ext cx="512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Sep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328416"/>
            <a:ext cx="80467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i="0">
                <a:solidFill>
                  <a:srgbClr val="6B7E93"/>
                </a:solidFill>
              </a:rPr>
              <a:t>Index 1.08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44383" y="3328416"/>
            <a:ext cx="102412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1" i="0">
                <a:solidFill>
                  <a:srgbClr val="0D1B2A"/>
                </a:solidFill>
              </a:rPr>
              <a:t>R$302k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52160" y="3749040"/>
            <a:ext cx="2880360" cy="365760"/>
          </a:xfrm>
          <a:prstGeom prst="roundRect">
            <a:avLst>
              <a:gd name="adj" fmla="val 16667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25312" y="3749040"/>
            <a:ext cx="34747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1" i="0">
                <a:solidFill>
                  <a:srgbClr val="C0392B"/>
                </a:solidFill>
              </a:rPr>
              <a:t>6°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1072" y="3749040"/>
            <a:ext cx="512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Jun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21424" y="3749040"/>
            <a:ext cx="80467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 i="0">
                <a:solidFill>
                  <a:srgbClr val="6B7E93"/>
                </a:solidFill>
              </a:rPr>
              <a:t>Index 1.05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44383" y="3749040"/>
            <a:ext cx="102412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1" i="0">
                <a:solidFill>
                  <a:srgbClr val="C0392B"/>
                </a:solidFill>
              </a:rPr>
              <a:t>R$300k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4005072"/>
            <a:ext cx="5303520" cy="420624"/>
          </a:xfrm>
          <a:prstGeom prst="roundRect">
            <a:avLst>
              <a:gd name="adj" fmla="val 16667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4041648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00C2CB"/>
                </a:solidFill>
              </a:rPr>
              <a:t>Difference Nov (best) vs. Feb (worst): R$41k/month  ·  R$497k annualized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4626864"/>
            <a:ext cx="8321040" cy="548640"/>
          </a:xfrm>
          <a:prstGeom prst="roundRect">
            <a:avLst>
              <a:gd name="adj" fmla="val 16667"/>
            </a:avLst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4663440"/>
            <a:ext cx="813816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 i="0">
                <a:solidFill>
                  <a:srgbClr val="1A3A5C"/>
                </a:solidFill>
              </a:rPr>
              <a:t>💡  November is the optimal month for Football price adjustment: seasonality 1.35 (Brazilian Championship) reduces churn impact by ~40% vs. February. Implementing the same increase in Feb instead of Nov costs R$497k in annualized revenue.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949440" y="-731520"/>
            <a:ext cx="3474720" cy="3474720"/>
          </a:xfrm>
          <a:prstGeom prst="ellipse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47472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Pricing Recommendations for the Video+ CMO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8BAFC9"/>
                </a:solidFill>
              </a:rPr>
              <a:t>Summary of the 5 PRISM v2 dimensions — priority actions with estimated revenue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4160520" cy="969264"/>
          </a:xfrm>
          <a:prstGeom prst="roundRect">
            <a:avLst>
              <a:gd name="adj" fmla="val 16667"/>
            </a:avLst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21208" y="1298448"/>
            <a:ext cx="420624" cy="420624"/>
          </a:xfrm>
          <a:prstGeom prst="roundRect">
            <a:avLst>
              <a:gd name="adj" fmla="val 16667"/>
            </a:avLst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" y="12984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" y="128016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Raise Football +12% in November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04487" y="1280160"/>
            <a:ext cx="621792" cy="237744"/>
          </a:xfrm>
          <a:prstGeom prst="roundRect">
            <a:avLst>
              <a:gd name="adj" fmla="val 16667"/>
            </a:avLst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0" rIns="9144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+R$3.2M/yr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1572768"/>
            <a:ext cx="3474720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 i="0">
                <a:solidFill>
                  <a:srgbClr val="8BAFC9"/>
                </a:solidFill>
              </a:rPr>
              <a:t>β=−0.36 (strongly inelastic) · OPP R$115 vs. current R$89.90 · Timing: seasonal index 1.35 reduces churn by 40%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82312" y="1188720"/>
            <a:ext cx="4160520" cy="969264"/>
          </a:xfrm>
          <a:prstGeom prst="roundRect">
            <a:avLst>
              <a:gd name="adj" fmla="val 16667"/>
            </a:avLst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892040" y="1298448"/>
            <a:ext cx="420624" cy="420624"/>
          </a:xfrm>
          <a:prstGeom prst="roundRect">
            <a:avLst>
              <a:gd name="adj" fmla="val 16667"/>
            </a:avLst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2040" y="12984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85816" y="128016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Raise MMA/Combat +8% in November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280160"/>
            <a:ext cx="621792" cy="237744"/>
          </a:xfrm>
          <a:prstGeom prst="roundRect">
            <a:avLst>
              <a:gd name="adj" fmla="val 16667"/>
            </a:avLst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0" rIns="9144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+R$0.9M/yr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85816" y="1572768"/>
            <a:ext cx="3474720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 i="0">
                <a:solidFill>
                  <a:srgbClr val="8BAFC9"/>
                </a:solidFill>
              </a:rPr>
              <a:t>β=−0.54 · WTP OPP R$82 vs. current R$64.90 · Implement alongside Football leveraging seasonal timing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231136"/>
            <a:ext cx="4160520" cy="969264"/>
          </a:xfrm>
          <a:prstGeom prst="roundRect">
            <a:avLst>
              <a:gd name="adj" fmla="val 16667"/>
            </a:avLst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21208" y="2340864"/>
            <a:ext cx="420624" cy="420624"/>
          </a:xfrm>
          <a:prstGeom prst="roundRect">
            <a:avLst>
              <a:gd name="adj" fmla="val 16667"/>
            </a:avLst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" y="234086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" y="2322576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DO NOT raise Series/Films price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04487" y="2322576"/>
            <a:ext cx="621792" cy="237744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0" rIns="9144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Protect 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" y="2615184"/>
            <a:ext cx="3474720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 i="0">
                <a:solidFill>
                  <a:srgbClr val="8BAFC9"/>
                </a:solidFill>
              </a:rPr>
              <a:t>β=−1.35 (elastic) · Any price increase REDUCES revenue · Focus: retention and cross-sell to Bundle Plus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82312" y="2231136"/>
            <a:ext cx="4160520" cy="969264"/>
          </a:xfrm>
          <a:prstGeom prst="roundRect">
            <a:avLst>
              <a:gd name="adj" fmla="val 16667"/>
            </a:avLst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892040" y="2340864"/>
            <a:ext cx="420624" cy="420624"/>
          </a:xfrm>
          <a:prstGeom prst="roundRect">
            <a:avLst>
              <a:gd name="adj" fmla="val 16667"/>
            </a:avLst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92040" y="234086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85816" y="2322576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Price Bundle Plus at R$185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2322576"/>
            <a:ext cx="621792" cy="237744"/>
          </a:xfrm>
          <a:prstGeom prst="roundRect">
            <a:avLst>
              <a:gd name="adj" fmla="val 16667"/>
            </a:avLst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0" rIns="9144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+R$0.6M/yr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85816" y="2615184"/>
            <a:ext cx="3474720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 i="0">
                <a:solidFill>
                  <a:srgbClr val="8BAFC9"/>
                </a:solidFill>
              </a:rPr>
              <a:t>WTP OPP R$185 vs. current R$179.90 · Football migration channel (ε=+0.20) · Soft increase, low risk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3273552"/>
            <a:ext cx="4160520" cy="969264"/>
          </a:xfrm>
          <a:prstGeom prst="roundRect">
            <a:avLst>
              <a:gd name="adj" fmla="val 16667"/>
            </a:avLst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21208" y="3383280"/>
            <a:ext cx="420624" cy="420624"/>
          </a:xfrm>
          <a:prstGeom prst="roundRect">
            <a:avLst>
              <a:gd name="adj" fmla="val 16667"/>
            </a:avLst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1208" y="338328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" y="336499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Model surgical retention for Kids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04487" y="3364992"/>
            <a:ext cx="621792" cy="237744"/>
          </a:xfrm>
          <a:prstGeom prst="roundRect">
            <a:avLst>
              <a:gd name="adj" fmla="val 16667"/>
            </a:avLst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0" rIns="9144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−Churn 15%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" y="3657600"/>
            <a:ext cx="3474720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 i="0">
                <a:solidFill>
                  <a:srgbClr val="8BAFC9"/>
                </a:solidFill>
              </a:rPr>
              <a:t>Wide 95% CI (±0.66) · High uncertainty · Retention discount only for high churn-propensity users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82312" y="3273552"/>
            <a:ext cx="4160520" cy="969264"/>
          </a:xfrm>
          <a:prstGeom prst="roundRect">
            <a:avLst>
              <a:gd name="adj" fmla="val 16667"/>
            </a:avLst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892040" y="3383280"/>
            <a:ext cx="420624" cy="420624"/>
          </a:xfrm>
          <a:prstGeom prst="roundRect">
            <a:avLst>
              <a:gd name="adj" fmla="val 16667"/>
            </a:avLst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92040" y="338328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85816" y="336499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Implement quarterly Van Westendorp survey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75320" y="3364992"/>
            <a:ext cx="621792" cy="237744"/>
          </a:xfrm>
          <a:prstGeom prst="roundRect">
            <a:avLst>
              <a:gd name="adj" fmla="val 16667"/>
            </a:avLst>
          </a:prstGeom>
          <a:solidFill>
            <a:srgbClr val="8BA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0" rIns="9144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Model upgrade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85816" y="3657600"/>
            <a:ext cx="3474720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 i="0">
                <a:solidFill>
                  <a:srgbClr val="8BAFC9"/>
                </a:solidFill>
              </a:rPr>
              <a:t>Current OPP estimated by proxy · Real survey with n≥400 per package raises CI confidence to 90%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109728"/>
            <a:ext cx="1920240" cy="265176"/>
          </a:xfrm>
          <a:prstGeom prst="roundRect">
            <a:avLst>
              <a:gd name="adj" fmla="val 16667"/>
            </a:avLst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0" rIns="91440" bIns="0" rtlCol="0" anchor="ctr"/>
          <a:lstStyle/>
          <a:p>
            <a:pPr algn="ctr"/>
            <a:r>
              <a:rPr sz="800" b="1">
                <a:solidFill>
                  <a:srgbClr val="0D1B2A"/>
                </a:solidFill>
              </a:rPr>
              <a:t>PRICING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 i="0">
                <a:solidFill>
                  <a:srgbClr val="0D1B2A"/>
                </a:solidFill>
              </a:rPr>
              <a:t>Implementation plan — Q4 2026 to Q2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9264"/>
            <a:ext cx="83210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6B7E93"/>
                </a:solidFill>
              </a:rPr>
              <a:t>Adjustment sequence calibrated by elasticity, WTP and seasonal timing · Estimated cumulative impact: +R$5.2M/year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16736"/>
            <a:ext cx="2670048" cy="566928"/>
          </a:xfrm>
          <a:prstGeom prst="roundRect">
            <a:avLst>
              <a:gd name="adj" fmla="val 16667"/>
            </a:avLst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335024"/>
            <a:ext cx="267004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Q4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91056"/>
            <a:ext cx="2670048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Phase 1 — Sports Pricing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920240"/>
            <a:ext cx="2670048" cy="279806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23957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0" i="0">
                <a:solidFill>
                  <a:srgbClr val="0D1B2A"/>
                </a:solidFill>
              </a:rPr>
              <a:t>→  Nov: Football +12% → R$100.69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23957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0" i="0">
                <a:solidFill>
                  <a:srgbClr val="0D1B2A"/>
                </a:solidFill>
              </a:rPr>
              <a:t>→  Nov: MMA +8% → R$70.09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98064"/>
            <a:ext cx="23957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0" i="0">
                <a:solidFill>
                  <a:srgbClr val="0D1B2A"/>
                </a:solidFill>
              </a:rPr>
              <a:t>→  Nov: Bundle Plus +3% → R$185.27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0400"/>
            <a:ext cx="23957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1" i="0">
                <a:solidFill>
                  <a:srgbClr val="00C2CB"/>
                </a:solidFill>
              </a:rPr>
              <a:t>→  Estimated impact: +R$4.1M/year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7832" y="1316736"/>
            <a:ext cx="2670048" cy="566928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27832" y="1335024"/>
            <a:ext cx="267004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Q1 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7832" y="1591056"/>
            <a:ext cx="2670048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Phase 2 — Smart Retention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27832" y="1920240"/>
            <a:ext cx="2670048" cy="279806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64992" y="1993392"/>
            <a:ext cx="23957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0" i="0">
                <a:solidFill>
                  <a:srgbClr val="0D1B2A"/>
                </a:solidFill>
              </a:rPr>
              <a:t>→  Churn model + propensity score by subscriber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2395728"/>
            <a:ext cx="23957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0" i="0">
                <a:solidFill>
                  <a:srgbClr val="0D1B2A"/>
                </a:solidFill>
              </a:rPr>
              <a:t>→  Surgical discount for Kids (high elasticity)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2798064"/>
            <a:ext cx="23957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0" i="0">
                <a:solidFill>
                  <a:srgbClr val="0D1B2A"/>
                </a:solidFill>
              </a:rPr>
              <a:t>→  Cross-sell Series → Bundle Plus (ε=−0.20)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2" y="3200400"/>
            <a:ext cx="23957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0" i="0">
                <a:solidFill>
                  <a:srgbClr val="0D1B2A"/>
                </a:solidFill>
              </a:rPr>
              <a:t>→  Van Westendorp survey — n≥400 per package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44184" y="1316736"/>
            <a:ext cx="2670048" cy="566928"/>
          </a:xfrm>
          <a:prstGeom prst="roundRect">
            <a:avLst>
              <a:gd name="adj" fmla="val 16667"/>
            </a:avLst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44184" y="1335024"/>
            <a:ext cx="267004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Q2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4184" y="1591056"/>
            <a:ext cx="2670048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Phase 3 — Dynamic Pricing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44184" y="1920240"/>
            <a:ext cx="2670048" cy="279806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81344" y="1993392"/>
            <a:ext cx="23957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0" i="0">
                <a:solidFill>
                  <a:srgbClr val="6C3483"/>
                </a:solidFill>
              </a:rPr>
              <a:t>→  SURE: estimate cross-price elasticity from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1344" y="2395728"/>
            <a:ext cx="23957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0" i="0">
                <a:solidFill>
                  <a:srgbClr val="0D1B2A"/>
                </a:solidFill>
              </a:rPr>
              <a:t>→  Latent model: segment by individual elasticity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2798064"/>
            <a:ext cx="23957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0" i="0">
                <a:solidFill>
                  <a:srgbClr val="0D1B2A"/>
                </a:solidFill>
              </a:rPr>
              <a:t>→  Price A/B test in 2 geo-pilot markets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1344" y="3200400"/>
            <a:ext cx="23957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50" b="0" i="0">
                <a:solidFill>
                  <a:srgbClr val="6C3483"/>
                </a:solidFill>
              </a:rPr>
              <a:t>→  PRISM v3: Bayesian hierarchical model (PyMC)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4809744"/>
            <a:ext cx="8321040" cy="475488"/>
          </a:xfrm>
          <a:prstGeom prst="roundRect">
            <a:avLst>
              <a:gd name="adj" fmla="val 16667"/>
            </a:avLst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4846320"/>
            <a:ext cx="813816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000" b="1" i="0">
                <a:solidFill>
                  <a:srgbClr val="00C2CB"/>
                </a:solidFill>
              </a:rPr>
              <a:t>Estimated cumulative impact 12 months:  +R$5.2M/year incremental revenue  ·  Basis: OLS elasticities + WTP survey + modeled cannibalization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225758" y="-1072504"/>
            <a:ext cx="4059798" cy="3948198"/>
          </a:xfrm>
          <a:prstGeom prst="ellipse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878286" y="-715156"/>
            <a:ext cx="3448594" cy="3398818"/>
          </a:xfrm>
          <a:prstGeom prst="ellipse">
            <a:avLst/>
          </a:prstGeom>
          <a:solidFill>
            <a:srgbClr val="02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63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PRISM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93008" y="306222"/>
            <a:ext cx="1463040" cy="4206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0" i="0">
                <a:solidFill>
                  <a:srgbClr val="00C2CB"/>
                </a:solidFill>
              </a:rPr>
              <a:t>v2.0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29181"/>
            <a:ext cx="5486400" cy="6217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 i="0">
                <a:solidFill>
                  <a:srgbClr val="00C2CB"/>
                </a:solidFill>
              </a:rPr>
              <a:t>Pricing &amp; Revenue Intelligence
for Streaming Markets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6187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0934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8BAFC9"/>
                </a:solidFill>
              </a:rPr>
              <a:t>→  Van Westendorp survey — n≥400 per package (Q4 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2023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8BAFC9"/>
                </a:solidFill>
              </a:rPr>
              <a:t>→  Football +12% price increase in November (execution)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3113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8BAFC9"/>
                </a:solidFill>
              </a:rPr>
              <a:t>→  SURE estimation for real cross-price elasticities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4203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8BAFC9"/>
                </a:solidFill>
              </a:rPr>
              <a:t>→  PRISM v3 with Bayesian hierarchical framework (PyMC)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292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0">
                <a:solidFill>
                  <a:srgbClr val="8BAFC9"/>
                </a:solidFill>
              </a:rPr>
              <a:t>→  Geo-experiment in 2 pilot markets for causality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376" y="4250930"/>
            <a:ext cx="1920240" cy="804672"/>
          </a:xfrm>
          <a:prstGeom prst="roundRect">
            <a:avLst>
              <a:gd name="adj" fmla="val 16667"/>
            </a:avLst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912" y="4287058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 dirty="0">
                <a:solidFill>
                  <a:srgbClr val="00C2CB"/>
                </a:solidFill>
              </a:rPr>
              <a:t>β = −0.36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76" y="4671554"/>
            <a:ext cx="192024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50" b="0" i="0">
                <a:solidFill>
                  <a:srgbClr val="8BAFC9"/>
                </a:solidFill>
              </a:rPr>
              <a:t>Football
(most inelastic)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63208" y="4250930"/>
            <a:ext cx="1920240" cy="804672"/>
          </a:xfrm>
          <a:prstGeom prst="roundRect">
            <a:avLst>
              <a:gd name="adj" fmla="val 16667"/>
            </a:avLst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63208" y="4291665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 dirty="0">
                <a:solidFill>
                  <a:srgbClr val="00C2CB"/>
                </a:solidFill>
              </a:rPr>
              <a:t>β = −1.35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63208" y="4671554"/>
            <a:ext cx="192024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50" b="0" i="0">
                <a:solidFill>
                  <a:srgbClr val="8BAFC9"/>
                </a:solidFill>
              </a:rPr>
              <a:t>Series
(elastic)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48039" y="4250930"/>
            <a:ext cx="1920240" cy="804672"/>
          </a:xfrm>
          <a:prstGeom prst="roundRect">
            <a:avLst>
              <a:gd name="adj" fmla="val 16667"/>
            </a:avLst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48039" y="4296650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>
                <a:solidFill>
                  <a:srgbClr val="00C2CB"/>
                </a:solidFill>
              </a:rPr>
              <a:t>+R$5.2M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8039" y="4671554"/>
            <a:ext cx="192024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50" b="0" i="0">
                <a:solidFill>
                  <a:srgbClr val="8BAFC9"/>
                </a:solidFill>
              </a:rPr>
              <a:t>Estimated
annual uplift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2872" y="4250930"/>
            <a:ext cx="1920240" cy="804672"/>
          </a:xfrm>
          <a:prstGeom prst="roundRect">
            <a:avLst>
              <a:gd name="adj" fmla="val 16667"/>
            </a:avLst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2872" y="4296650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 dirty="0">
                <a:solidFill>
                  <a:srgbClr val="00C2CB"/>
                </a:solidFill>
              </a:rPr>
              <a:t>November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2872" y="4671554"/>
            <a:ext cx="192024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50" b="0" i="0">
                <a:solidFill>
                  <a:srgbClr val="8BAFC9"/>
                </a:solidFill>
              </a:rPr>
              <a:t>Optimal
adjustment timing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1551</Words>
  <Application>Microsoft Office PowerPoint</Application>
  <PresentationFormat>On-screen Show (16:9)</PresentationFormat>
  <Paragraphs>261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CorteReal, Bruno M.</dc:creator>
  <cp:keywords/>
  <dc:description>generated using python-pptx</dc:description>
  <cp:lastModifiedBy>CorteReal, Bruno M.</cp:lastModifiedBy>
  <cp:revision>2</cp:revision>
  <dcterms:created xsi:type="dcterms:W3CDTF">2013-01-27T09:14:16Z</dcterms:created>
  <dcterms:modified xsi:type="dcterms:W3CDTF">2026-08-24T16:42:09Z</dcterms:modified>
  <cp:category/>
</cp:coreProperties>
</file>